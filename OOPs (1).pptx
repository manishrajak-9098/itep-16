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DM Sans Bold" charset="1" panose="00000000000000000000"/>
      <p:regular r:id="rId18"/>
    </p:embeddedFont>
    <p:embeddedFont>
      <p:font typeface="DM Sans" charset="1" panose="00000000000000000000"/>
      <p:regular r:id="rId19"/>
    </p:embeddedFont>
    <p:embeddedFont>
      <p:font typeface="Leckerli One" charset="1" panose="02000503000000020003"/>
      <p:regular r:id="rId20"/>
    </p:embeddedFont>
    <p:embeddedFont>
      <p:font typeface="Gagalin" charset="1" panose="00000500000000000000"/>
      <p:regular r:id="rId21"/>
    </p:embeddedFont>
    <p:embeddedFont>
      <p:font typeface="League Spartan" charset="1" panose="00000800000000000000"/>
      <p:regular r:id="rId22"/>
    </p:embeddedFont>
    <p:embeddedFont>
      <p:font typeface="Apricots" charset="1" panose="00000000000000000000"/>
      <p:regular r:id="rId23"/>
    </p:embeddedFont>
    <p:embeddedFont>
      <p:font typeface="Canva Student Font"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jpe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1.png" Type="http://schemas.openxmlformats.org/officeDocument/2006/relationships/image"/><Relationship Id="rId20" Target="../media/image15.png" Type="http://schemas.openxmlformats.org/officeDocument/2006/relationships/image"/><Relationship Id="rId21" Target="../media/image16.svg" Type="http://schemas.openxmlformats.org/officeDocument/2006/relationships/image"/><Relationship Id="rId22" Target="../media/image17.png" Type="http://schemas.openxmlformats.org/officeDocument/2006/relationships/image"/><Relationship Id="rId23" Target="../media/image18.svg" Type="http://schemas.openxmlformats.org/officeDocument/2006/relationships/image"/><Relationship Id="rId24" Target="../media/image19.png" Type="http://schemas.openxmlformats.org/officeDocument/2006/relationships/image"/><Relationship Id="rId25" Target="../media/image20.svg" Type="http://schemas.openxmlformats.org/officeDocument/2006/relationships/image"/><Relationship Id="rId26" Target="../media/image21.png" Type="http://schemas.openxmlformats.org/officeDocument/2006/relationships/image"/><Relationship Id="rId27" Target="../media/image22.svg" Type="http://schemas.openxmlformats.org/officeDocument/2006/relationships/image"/><Relationship Id="rId28" Target="../media/image32.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15.png" Type="http://schemas.openxmlformats.org/officeDocument/2006/relationships/image"/><Relationship Id="rId19" Target="../media/image16.svg" Type="http://schemas.openxmlformats.org/officeDocument/2006/relationships/image"/><Relationship Id="rId2" Target="../media/image1.png" Type="http://schemas.openxmlformats.org/officeDocument/2006/relationships/image"/><Relationship Id="rId20" Target="../media/image17.png" Type="http://schemas.openxmlformats.org/officeDocument/2006/relationships/image"/><Relationship Id="rId21" Target="../media/image18.svg" Type="http://schemas.openxmlformats.org/officeDocument/2006/relationships/image"/><Relationship Id="rId22" Target="../media/image19.png" Type="http://schemas.openxmlformats.org/officeDocument/2006/relationships/image"/><Relationship Id="rId23" Target="../media/image20.svg" Type="http://schemas.openxmlformats.org/officeDocument/2006/relationships/image"/><Relationship Id="rId24" Target="../media/image21.png" Type="http://schemas.openxmlformats.org/officeDocument/2006/relationships/image"/><Relationship Id="rId25" Target="../media/image22.svg" Type="http://schemas.openxmlformats.org/officeDocument/2006/relationships/image"/><Relationship Id="rId26" Target="../media/image33.jpe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1.png" Type="http://schemas.openxmlformats.org/officeDocument/2006/relationships/image"/><Relationship Id="rId20" Target="../media/image15.png" Type="http://schemas.openxmlformats.org/officeDocument/2006/relationships/image"/><Relationship Id="rId21" Target="../media/image16.svg" Type="http://schemas.openxmlformats.org/officeDocument/2006/relationships/image"/><Relationship Id="rId22" Target="../media/image17.png" Type="http://schemas.openxmlformats.org/officeDocument/2006/relationships/image"/><Relationship Id="rId23" Target="../media/image18.svg" Type="http://schemas.openxmlformats.org/officeDocument/2006/relationships/image"/><Relationship Id="rId24" Target="../media/image19.png" Type="http://schemas.openxmlformats.org/officeDocument/2006/relationships/image"/><Relationship Id="rId25" Target="../media/image20.svg" Type="http://schemas.openxmlformats.org/officeDocument/2006/relationships/image"/><Relationship Id="rId26" Target="../media/image21.png" Type="http://schemas.openxmlformats.org/officeDocument/2006/relationships/image"/><Relationship Id="rId27" Target="../media/image22.svg" Type="http://schemas.openxmlformats.org/officeDocument/2006/relationships/image"/><Relationship Id="rId28" Target="../media/image34.jpe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1.png" Type="http://schemas.openxmlformats.org/officeDocument/2006/relationships/image"/><Relationship Id="rId20" Target="../media/image15.png" Type="http://schemas.openxmlformats.org/officeDocument/2006/relationships/image"/><Relationship Id="rId21" Target="../media/image16.svg" Type="http://schemas.openxmlformats.org/officeDocument/2006/relationships/image"/><Relationship Id="rId22" Target="../media/image17.png" Type="http://schemas.openxmlformats.org/officeDocument/2006/relationships/image"/><Relationship Id="rId23" Target="../media/image18.svg" Type="http://schemas.openxmlformats.org/officeDocument/2006/relationships/image"/><Relationship Id="rId24" Target="../media/image19.png" Type="http://schemas.openxmlformats.org/officeDocument/2006/relationships/image"/><Relationship Id="rId25" Target="../media/image20.svg" Type="http://schemas.openxmlformats.org/officeDocument/2006/relationships/image"/><Relationship Id="rId26" Target="../media/image21.png" Type="http://schemas.openxmlformats.org/officeDocument/2006/relationships/image"/><Relationship Id="rId27" Target="../media/image22.svg" Type="http://schemas.openxmlformats.org/officeDocument/2006/relationships/image"/><Relationship Id="rId28" Target="../media/image35.jpe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1.png" Type="http://schemas.openxmlformats.org/officeDocument/2006/relationships/image"/><Relationship Id="rId20" Target="../media/image15.png" Type="http://schemas.openxmlformats.org/officeDocument/2006/relationships/image"/><Relationship Id="rId21" Target="../media/image16.svg" Type="http://schemas.openxmlformats.org/officeDocument/2006/relationships/image"/><Relationship Id="rId22" Target="../media/image17.png" Type="http://schemas.openxmlformats.org/officeDocument/2006/relationships/image"/><Relationship Id="rId23" Target="../media/image18.svg" Type="http://schemas.openxmlformats.org/officeDocument/2006/relationships/image"/><Relationship Id="rId24" Target="../media/image19.png" Type="http://schemas.openxmlformats.org/officeDocument/2006/relationships/image"/><Relationship Id="rId25" Target="../media/image20.svg" Type="http://schemas.openxmlformats.org/officeDocument/2006/relationships/image"/><Relationship Id="rId26" Target="../media/image21.png" Type="http://schemas.openxmlformats.org/officeDocument/2006/relationships/image"/><Relationship Id="rId27" Target="../media/image22.svg" Type="http://schemas.openxmlformats.org/officeDocument/2006/relationships/image"/><Relationship Id="rId28" Target="../media/image36.png" Type="http://schemas.openxmlformats.org/officeDocument/2006/relationships/image"/><Relationship Id="rId29" Target="../media/image37.svg" Type="http://schemas.openxmlformats.org/officeDocument/2006/relationships/image"/><Relationship Id="rId3" Target="../media/image2.svg" Type="http://schemas.openxmlformats.org/officeDocument/2006/relationships/image"/><Relationship Id="rId30" Target="../media/image38.png" Type="http://schemas.openxmlformats.org/officeDocument/2006/relationships/image"/><Relationship Id="rId31" Target="../media/image3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1.png" Type="http://schemas.openxmlformats.org/officeDocument/2006/relationships/image"/><Relationship Id="rId20" Target="../media/image15.png" Type="http://schemas.openxmlformats.org/officeDocument/2006/relationships/image"/><Relationship Id="rId21" Target="../media/image16.svg" Type="http://schemas.openxmlformats.org/officeDocument/2006/relationships/image"/><Relationship Id="rId22" Target="../media/image17.png" Type="http://schemas.openxmlformats.org/officeDocument/2006/relationships/image"/><Relationship Id="rId23" Target="../media/image18.svg" Type="http://schemas.openxmlformats.org/officeDocument/2006/relationships/image"/><Relationship Id="rId24" Target="../media/image19.png" Type="http://schemas.openxmlformats.org/officeDocument/2006/relationships/image"/><Relationship Id="rId25" Target="../media/image20.svg" Type="http://schemas.openxmlformats.org/officeDocument/2006/relationships/image"/><Relationship Id="rId26" Target="../media/image21.png" Type="http://schemas.openxmlformats.org/officeDocument/2006/relationships/image"/><Relationship Id="rId27" Target="../media/image22.svg" Type="http://schemas.openxmlformats.org/officeDocument/2006/relationships/image"/><Relationship Id="rId28" Target="../media/image40.png" Type="http://schemas.openxmlformats.org/officeDocument/2006/relationships/image"/><Relationship Id="rId29" Target="../media/image41.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TextBox 13" id="13"/>
          <p:cNvSpPr txBox="true"/>
          <p:nvPr/>
        </p:nvSpPr>
        <p:spPr>
          <a:xfrm rot="0">
            <a:off x="3326309" y="2142221"/>
            <a:ext cx="10910396" cy="1391871"/>
          </a:xfrm>
          <a:prstGeom prst="rect">
            <a:avLst/>
          </a:prstGeom>
        </p:spPr>
        <p:txBody>
          <a:bodyPr anchor="t" rtlCol="false" tIns="0" lIns="0" bIns="0" rIns="0">
            <a:spAutoFit/>
          </a:bodyPr>
          <a:lstStyle/>
          <a:p>
            <a:pPr algn="ctr">
              <a:lnSpc>
                <a:spcPts val="10338"/>
              </a:lnSpc>
            </a:pPr>
            <a:r>
              <a:rPr lang="en-US" b="true" sz="10998">
                <a:solidFill>
                  <a:srgbClr val="000000"/>
                </a:solidFill>
                <a:latin typeface="DM Sans Bold"/>
                <a:ea typeface="DM Sans Bold"/>
                <a:cs typeface="DM Sans Bold"/>
                <a:sym typeface="DM Sans Bold"/>
              </a:rPr>
              <a:t>OOPs:</a:t>
            </a:r>
          </a:p>
        </p:txBody>
      </p:sp>
      <p:sp>
        <p:nvSpPr>
          <p:cNvPr name="Freeform 14" id="14"/>
          <p:cNvSpPr/>
          <p:nvPr/>
        </p:nvSpPr>
        <p:spPr>
          <a:xfrm flipH="false" flipV="false" rot="0">
            <a:off x="4737926" y="2576219"/>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TextBox 15" id="15"/>
          <p:cNvSpPr txBox="true"/>
          <p:nvPr/>
        </p:nvSpPr>
        <p:spPr>
          <a:xfrm rot="0">
            <a:off x="1822904" y="3522540"/>
            <a:ext cx="14894304" cy="2058516"/>
          </a:xfrm>
          <a:prstGeom prst="rect">
            <a:avLst/>
          </a:prstGeom>
        </p:spPr>
        <p:txBody>
          <a:bodyPr anchor="t" rtlCol="false" tIns="0" lIns="0" bIns="0" rIns="0">
            <a:spAutoFit/>
          </a:bodyPr>
          <a:lstStyle/>
          <a:p>
            <a:pPr algn="ctr">
              <a:lnSpc>
                <a:spcPts val="7895"/>
              </a:lnSpc>
            </a:pPr>
            <a:r>
              <a:rPr lang="en-US" b="true" sz="8399">
                <a:solidFill>
                  <a:srgbClr val="000000"/>
                </a:solidFill>
                <a:latin typeface="DM Sans Bold"/>
                <a:ea typeface="DM Sans Bold"/>
                <a:cs typeface="DM Sans Bold"/>
                <a:sym typeface="DM Sans Bold"/>
              </a:rPr>
              <a:t>(Object Oreinted Programming Style)</a:t>
            </a:r>
          </a:p>
        </p:txBody>
      </p:sp>
      <p:sp>
        <p:nvSpPr>
          <p:cNvPr name="TextBox 16" id="16"/>
          <p:cNvSpPr txBox="true"/>
          <p:nvPr/>
        </p:nvSpPr>
        <p:spPr>
          <a:xfrm rot="0">
            <a:off x="13703294" y="7538865"/>
            <a:ext cx="4584706" cy="2748135"/>
          </a:xfrm>
          <a:prstGeom prst="rect">
            <a:avLst/>
          </a:prstGeom>
        </p:spPr>
        <p:txBody>
          <a:bodyPr anchor="t" rtlCol="false" tIns="0" lIns="0" bIns="0" rIns="0">
            <a:spAutoFit/>
          </a:bodyPr>
          <a:lstStyle/>
          <a:p>
            <a:pPr algn="just">
              <a:lnSpc>
                <a:spcPts val="3759"/>
              </a:lnSpc>
            </a:pPr>
            <a:r>
              <a:rPr lang="en-US" b="true" sz="3999">
                <a:solidFill>
                  <a:srgbClr val="000000"/>
                </a:solidFill>
                <a:latin typeface="DM Sans Bold"/>
                <a:ea typeface="DM Sans Bold"/>
                <a:cs typeface="DM Sans Bold"/>
                <a:sym typeface="DM Sans Bold"/>
              </a:rPr>
              <a:t>Presented by :-</a:t>
            </a:r>
          </a:p>
          <a:p>
            <a:pPr algn="just" marL="820306" indent="-410153" lvl="1">
              <a:lnSpc>
                <a:spcPts val="3571"/>
              </a:lnSpc>
              <a:buFont typeface="Arial"/>
              <a:buChar char="•"/>
            </a:pPr>
            <a:r>
              <a:rPr lang="en-US" b="true" sz="3799">
                <a:solidFill>
                  <a:srgbClr val="000000"/>
                </a:solidFill>
                <a:latin typeface="DM Sans Bold"/>
                <a:ea typeface="DM Sans Bold"/>
                <a:cs typeface="DM Sans Bold"/>
                <a:sym typeface="DM Sans Bold"/>
              </a:rPr>
              <a:t>Manish</a:t>
            </a:r>
          </a:p>
          <a:p>
            <a:pPr algn="just" marL="820306" indent="-410153" lvl="1">
              <a:lnSpc>
                <a:spcPts val="3571"/>
              </a:lnSpc>
              <a:buFont typeface="Arial"/>
              <a:buChar char="•"/>
            </a:pPr>
            <a:r>
              <a:rPr lang="en-US" b="true" sz="3799">
                <a:solidFill>
                  <a:srgbClr val="000000"/>
                </a:solidFill>
                <a:latin typeface="DM Sans Bold"/>
                <a:ea typeface="DM Sans Bold"/>
                <a:cs typeface="DM Sans Bold"/>
                <a:sym typeface="DM Sans Bold"/>
              </a:rPr>
              <a:t>Udit</a:t>
            </a:r>
          </a:p>
          <a:p>
            <a:pPr algn="just" marL="820306" indent="-410153" lvl="1">
              <a:lnSpc>
                <a:spcPts val="3571"/>
              </a:lnSpc>
              <a:buFont typeface="Arial"/>
              <a:buChar char="•"/>
            </a:pPr>
            <a:r>
              <a:rPr lang="en-US" b="true" sz="3799">
                <a:solidFill>
                  <a:srgbClr val="000000"/>
                </a:solidFill>
                <a:latin typeface="DM Sans Bold"/>
                <a:ea typeface="DM Sans Bold"/>
                <a:cs typeface="DM Sans Bold"/>
                <a:sym typeface="DM Sans Bold"/>
              </a:rPr>
              <a:t>khushi</a:t>
            </a:r>
          </a:p>
          <a:p>
            <a:pPr algn="just" marL="820306" indent="-410153" lvl="1">
              <a:lnSpc>
                <a:spcPts val="3571"/>
              </a:lnSpc>
              <a:buFont typeface="Arial"/>
              <a:buChar char="•"/>
            </a:pPr>
            <a:r>
              <a:rPr lang="en-US" b="true" sz="3799">
                <a:solidFill>
                  <a:srgbClr val="000000"/>
                </a:solidFill>
                <a:latin typeface="DM Sans Bold"/>
                <a:ea typeface="DM Sans Bold"/>
                <a:cs typeface="DM Sans Bold"/>
                <a:sym typeface="DM Sans Bold"/>
              </a:rPr>
              <a:t>Dhwani</a:t>
            </a:r>
          </a:p>
          <a:p>
            <a:pPr algn="just" marL="820306" indent="-410153" lvl="1">
              <a:lnSpc>
                <a:spcPts val="3571"/>
              </a:lnSpc>
              <a:buFont typeface="Arial"/>
              <a:buChar char="•"/>
            </a:pPr>
            <a:r>
              <a:rPr lang="en-US" b="true" sz="3799">
                <a:solidFill>
                  <a:srgbClr val="000000"/>
                </a:solidFill>
                <a:latin typeface="DM Sans Bold"/>
                <a:ea typeface="DM Sans Bold"/>
                <a:cs typeface="DM Sans Bold"/>
                <a:sym typeface="DM Sans Bold"/>
              </a:rPr>
              <a:t>Riya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3550626" y="7591342"/>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2038135" y="8855210"/>
            <a:ext cx="4076270" cy="2863579"/>
          </a:xfrm>
          <a:custGeom>
            <a:avLst/>
            <a:gdLst/>
            <a:ahLst/>
            <a:cxnLst/>
            <a:rect r="r" b="b" t="t" l="l"/>
            <a:pathLst>
              <a:path h="2863579" w="4076270">
                <a:moveTo>
                  <a:pt x="0" y="0"/>
                </a:moveTo>
                <a:lnTo>
                  <a:pt x="4076270" y="0"/>
                </a:lnTo>
                <a:lnTo>
                  <a:pt x="4076270" y="2863580"/>
                </a:lnTo>
                <a:lnTo>
                  <a:pt x="0" y="2863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58194" y="32353"/>
            <a:ext cx="18446194" cy="4580010"/>
          </a:xfrm>
          <a:custGeom>
            <a:avLst/>
            <a:gdLst/>
            <a:ahLst/>
            <a:cxnLst/>
            <a:rect r="r" b="b" t="t" l="l"/>
            <a:pathLst>
              <a:path h="4580010" w="18446194">
                <a:moveTo>
                  <a:pt x="0" y="0"/>
                </a:moveTo>
                <a:lnTo>
                  <a:pt x="18446194" y="0"/>
                </a:lnTo>
                <a:lnTo>
                  <a:pt x="18446194" y="4580010"/>
                </a:lnTo>
                <a:lnTo>
                  <a:pt x="0" y="4580010"/>
                </a:lnTo>
                <a:lnTo>
                  <a:pt x="0" y="0"/>
                </a:lnTo>
                <a:close/>
              </a:path>
            </a:pathLst>
          </a:custGeom>
          <a:blipFill>
            <a:blip r:embed="rId10"/>
            <a:stretch>
              <a:fillRect l="0" t="-109183" r="0" b="-193570"/>
            </a:stretch>
          </a:blipFill>
        </p:spPr>
      </p:sp>
      <p:sp>
        <p:nvSpPr>
          <p:cNvPr name="TextBox 7" id="7"/>
          <p:cNvSpPr txBox="true"/>
          <p:nvPr/>
        </p:nvSpPr>
        <p:spPr>
          <a:xfrm rot="0">
            <a:off x="846785" y="5026991"/>
            <a:ext cx="7848753" cy="959115"/>
          </a:xfrm>
          <a:prstGeom prst="rect">
            <a:avLst/>
          </a:prstGeom>
        </p:spPr>
        <p:txBody>
          <a:bodyPr anchor="t" rtlCol="false" tIns="0" lIns="0" bIns="0" rIns="0">
            <a:spAutoFit/>
          </a:bodyPr>
          <a:lstStyle/>
          <a:p>
            <a:pPr algn="l">
              <a:lnSpc>
                <a:spcPts val="7178"/>
              </a:lnSpc>
            </a:pPr>
            <a:r>
              <a:rPr lang="en-US" sz="7400" b="true">
                <a:solidFill>
                  <a:srgbClr val="000000"/>
                </a:solidFill>
                <a:latin typeface="DM Sans Bold"/>
                <a:ea typeface="DM Sans Bold"/>
                <a:cs typeface="DM Sans Bold"/>
                <a:sym typeface="DM Sans Bold"/>
              </a:rPr>
              <a:t>What is OOPs?</a:t>
            </a:r>
          </a:p>
        </p:txBody>
      </p:sp>
      <p:sp>
        <p:nvSpPr>
          <p:cNvPr name="TextBox 8" id="8"/>
          <p:cNvSpPr txBox="true"/>
          <p:nvPr/>
        </p:nvSpPr>
        <p:spPr>
          <a:xfrm rot="0">
            <a:off x="440932" y="6195656"/>
            <a:ext cx="16509213" cy="1863091"/>
          </a:xfrm>
          <a:prstGeom prst="rect">
            <a:avLst/>
          </a:prstGeom>
        </p:spPr>
        <p:txBody>
          <a:bodyPr anchor="t" rtlCol="false" tIns="0" lIns="0" bIns="0" rIns="0">
            <a:spAutoFit/>
          </a:bodyPr>
          <a:lstStyle/>
          <a:p>
            <a:pPr algn="l" marL="798820" indent="-399410" lvl="1">
              <a:lnSpc>
                <a:spcPts val="4994"/>
              </a:lnSpc>
              <a:buFont typeface="Arial"/>
              <a:buChar char="•"/>
            </a:pPr>
            <a:r>
              <a:rPr lang="en-US" sz="3699" spc="221">
                <a:solidFill>
                  <a:srgbClr val="000000"/>
                </a:solidFill>
                <a:latin typeface="DM Sans"/>
                <a:ea typeface="DM Sans"/>
                <a:cs typeface="DM Sans"/>
                <a:sym typeface="DM Sans"/>
              </a:rPr>
              <a:t>OOPs is Style of Programming.</a:t>
            </a:r>
          </a:p>
          <a:p>
            <a:pPr algn="l" marL="798820" indent="-399410" lvl="1">
              <a:lnSpc>
                <a:spcPts val="4994"/>
              </a:lnSpc>
              <a:buFont typeface="Arial"/>
              <a:buChar char="•"/>
            </a:pPr>
            <a:r>
              <a:rPr lang="en-US" sz="3699" spc="221" u="none">
                <a:solidFill>
                  <a:srgbClr val="000000"/>
                </a:solidFill>
                <a:latin typeface="DM Sans"/>
                <a:ea typeface="DM Sans"/>
                <a:cs typeface="DM Sans"/>
                <a:sym typeface="DM Sans"/>
              </a:rPr>
              <a:t>OOPs means designing your code using real-world objects which have properties (data) and methods (actions).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50092" y="3931814"/>
            <a:ext cx="6204721" cy="2286699"/>
          </a:xfrm>
          <a:prstGeom prst="rect">
            <a:avLst/>
          </a:prstGeom>
        </p:spPr>
        <p:txBody>
          <a:bodyPr anchor="t" rtlCol="false" tIns="0" lIns="0" bIns="0" rIns="0">
            <a:spAutoFit/>
          </a:bodyPr>
          <a:lstStyle/>
          <a:p>
            <a:pPr algn="l">
              <a:lnSpc>
                <a:spcPts val="8779"/>
              </a:lnSpc>
            </a:pPr>
            <a:r>
              <a:rPr lang="en-US" sz="9051" b="true">
                <a:solidFill>
                  <a:srgbClr val="000000"/>
                </a:solidFill>
                <a:latin typeface="DM Sans Bold"/>
                <a:ea typeface="DM Sans Bold"/>
                <a:cs typeface="DM Sans Bold"/>
                <a:sym typeface="DM Sans Bold"/>
              </a:rPr>
              <a:t>Why OOP is Needed?</a:t>
            </a:r>
          </a:p>
        </p:txBody>
      </p:sp>
      <p:grpSp>
        <p:nvGrpSpPr>
          <p:cNvPr name="Group 3" id="3"/>
          <p:cNvGrpSpPr/>
          <p:nvPr/>
        </p:nvGrpSpPr>
        <p:grpSpPr>
          <a:xfrm rot="0">
            <a:off x="7499384" y="1170261"/>
            <a:ext cx="9474166" cy="2561528"/>
            <a:chOff x="0" y="0"/>
            <a:chExt cx="3171555" cy="857492"/>
          </a:xfrm>
        </p:grpSpPr>
        <p:sp>
          <p:nvSpPr>
            <p:cNvPr name="Freeform 4" id="4"/>
            <p:cNvSpPr/>
            <p:nvPr/>
          </p:nvSpPr>
          <p:spPr>
            <a:xfrm flipH="false" flipV="false" rot="0">
              <a:off x="0" y="0"/>
              <a:ext cx="3171555" cy="857492"/>
            </a:xfrm>
            <a:custGeom>
              <a:avLst/>
              <a:gdLst/>
              <a:ahLst/>
              <a:cxnLst/>
              <a:rect r="r" b="b" t="t" l="l"/>
              <a:pathLst>
                <a:path h="857492" w="3171555">
                  <a:moveTo>
                    <a:pt x="12257" y="0"/>
                  </a:moveTo>
                  <a:lnTo>
                    <a:pt x="3159297" y="0"/>
                  </a:lnTo>
                  <a:cubicBezTo>
                    <a:pt x="3166067" y="0"/>
                    <a:pt x="3171555" y="5488"/>
                    <a:pt x="3171555" y="12257"/>
                  </a:cubicBezTo>
                  <a:lnTo>
                    <a:pt x="3171555" y="845235"/>
                  </a:lnTo>
                  <a:cubicBezTo>
                    <a:pt x="3171555" y="852005"/>
                    <a:pt x="3166067" y="857492"/>
                    <a:pt x="3159297" y="857492"/>
                  </a:cubicBezTo>
                  <a:lnTo>
                    <a:pt x="12257" y="857492"/>
                  </a:lnTo>
                  <a:cubicBezTo>
                    <a:pt x="5488" y="857492"/>
                    <a:pt x="0" y="852005"/>
                    <a:pt x="0" y="845235"/>
                  </a:cubicBezTo>
                  <a:lnTo>
                    <a:pt x="0" y="12257"/>
                  </a:lnTo>
                  <a:cubicBezTo>
                    <a:pt x="0" y="5488"/>
                    <a:pt x="5488" y="0"/>
                    <a:pt x="12257" y="0"/>
                  </a:cubicBezTo>
                  <a:close/>
                </a:path>
              </a:pathLst>
            </a:custGeom>
            <a:solidFill>
              <a:srgbClr val="8AB7E2"/>
            </a:solidFill>
          </p:spPr>
        </p:sp>
        <p:sp>
          <p:nvSpPr>
            <p:cNvPr name="TextBox 5" id="5"/>
            <p:cNvSpPr txBox="true"/>
            <p:nvPr/>
          </p:nvSpPr>
          <p:spPr>
            <a:xfrm>
              <a:off x="0" y="85725"/>
              <a:ext cx="3171555" cy="771767"/>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7874905" y="2024301"/>
            <a:ext cx="1578952" cy="1034423"/>
          </a:xfrm>
          <a:prstGeom prst="rect">
            <a:avLst/>
          </a:prstGeom>
        </p:spPr>
        <p:txBody>
          <a:bodyPr anchor="t" rtlCol="false" tIns="0" lIns="0" bIns="0" rIns="0">
            <a:spAutoFit/>
          </a:bodyPr>
          <a:lstStyle/>
          <a:p>
            <a:pPr algn="l">
              <a:lnSpc>
                <a:spcPts val="7680"/>
              </a:lnSpc>
            </a:pPr>
            <a:r>
              <a:rPr lang="en-US" sz="8000" spc="-656">
                <a:solidFill>
                  <a:srgbClr val="000000"/>
                </a:solidFill>
                <a:latin typeface="DM Sans"/>
                <a:ea typeface="DM Sans"/>
                <a:cs typeface="DM Sans"/>
                <a:sym typeface="DM Sans"/>
              </a:rPr>
              <a:t>01.</a:t>
            </a:r>
          </a:p>
        </p:txBody>
      </p:sp>
      <p:grpSp>
        <p:nvGrpSpPr>
          <p:cNvPr name="Group 7" id="7"/>
          <p:cNvGrpSpPr/>
          <p:nvPr/>
        </p:nvGrpSpPr>
        <p:grpSpPr>
          <a:xfrm rot="0">
            <a:off x="7499384" y="3862348"/>
            <a:ext cx="9474166" cy="2561528"/>
            <a:chOff x="0" y="0"/>
            <a:chExt cx="3171555" cy="857492"/>
          </a:xfrm>
        </p:grpSpPr>
        <p:sp>
          <p:nvSpPr>
            <p:cNvPr name="Freeform 8" id="8"/>
            <p:cNvSpPr/>
            <p:nvPr/>
          </p:nvSpPr>
          <p:spPr>
            <a:xfrm flipH="false" flipV="false" rot="0">
              <a:off x="0" y="0"/>
              <a:ext cx="3171555" cy="857492"/>
            </a:xfrm>
            <a:custGeom>
              <a:avLst/>
              <a:gdLst/>
              <a:ahLst/>
              <a:cxnLst/>
              <a:rect r="r" b="b" t="t" l="l"/>
              <a:pathLst>
                <a:path h="857492" w="3171555">
                  <a:moveTo>
                    <a:pt x="12257" y="0"/>
                  </a:moveTo>
                  <a:lnTo>
                    <a:pt x="3159297" y="0"/>
                  </a:lnTo>
                  <a:cubicBezTo>
                    <a:pt x="3166067" y="0"/>
                    <a:pt x="3171555" y="5488"/>
                    <a:pt x="3171555" y="12257"/>
                  </a:cubicBezTo>
                  <a:lnTo>
                    <a:pt x="3171555" y="845235"/>
                  </a:lnTo>
                  <a:cubicBezTo>
                    <a:pt x="3171555" y="852005"/>
                    <a:pt x="3166067" y="857492"/>
                    <a:pt x="3159297" y="857492"/>
                  </a:cubicBezTo>
                  <a:lnTo>
                    <a:pt x="12257" y="857492"/>
                  </a:lnTo>
                  <a:cubicBezTo>
                    <a:pt x="5488" y="857492"/>
                    <a:pt x="0" y="852005"/>
                    <a:pt x="0" y="845235"/>
                  </a:cubicBezTo>
                  <a:lnTo>
                    <a:pt x="0" y="12257"/>
                  </a:lnTo>
                  <a:cubicBezTo>
                    <a:pt x="0" y="5488"/>
                    <a:pt x="5488" y="0"/>
                    <a:pt x="12257" y="0"/>
                  </a:cubicBezTo>
                  <a:close/>
                </a:path>
              </a:pathLst>
            </a:custGeom>
            <a:solidFill>
              <a:srgbClr val="8AB7E2"/>
            </a:solidFill>
          </p:spPr>
        </p:sp>
        <p:sp>
          <p:nvSpPr>
            <p:cNvPr name="TextBox 9" id="9"/>
            <p:cNvSpPr txBox="true"/>
            <p:nvPr/>
          </p:nvSpPr>
          <p:spPr>
            <a:xfrm>
              <a:off x="0" y="85725"/>
              <a:ext cx="3171555" cy="771767"/>
            </a:xfrm>
            <a:prstGeom prst="rect">
              <a:avLst/>
            </a:prstGeom>
          </p:spPr>
          <p:txBody>
            <a:bodyPr anchor="ctr" rtlCol="false" tIns="50800" lIns="50800" bIns="50800" rIns="50800"/>
            <a:lstStyle/>
            <a:p>
              <a:pPr algn="ctr">
                <a:lnSpc>
                  <a:spcPts val="1925"/>
                </a:lnSpc>
              </a:pPr>
            </a:p>
          </p:txBody>
        </p:sp>
      </p:grpSp>
      <p:grpSp>
        <p:nvGrpSpPr>
          <p:cNvPr name="Group 10" id="10"/>
          <p:cNvGrpSpPr/>
          <p:nvPr/>
        </p:nvGrpSpPr>
        <p:grpSpPr>
          <a:xfrm rot="0">
            <a:off x="7499384" y="6557226"/>
            <a:ext cx="9474166" cy="2561528"/>
            <a:chOff x="0" y="0"/>
            <a:chExt cx="3171555" cy="857492"/>
          </a:xfrm>
        </p:grpSpPr>
        <p:sp>
          <p:nvSpPr>
            <p:cNvPr name="Freeform 11" id="11"/>
            <p:cNvSpPr/>
            <p:nvPr/>
          </p:nvSpPr>
          <p:spPr>
            <a:xfrm flipH="false" flipV="false" rot="0">
              <a:off x="0" y="0"/>
              <a:ext cx="3171555" cy="857492"/>
            </a:xfrm>
            <a:custGeom>
              <a:avLst/>
              <a:gdLst/>
              <a:ahLst/>
              <a:cxnLst/>
              <a:rect r="r" b="b" t="t" l="l"/>
              <a:pathLst>
                <a:path h="857492" w="3171555">
                  <a:moveTo>
                    <a:pt x="12257" y="0"/>
                  </a:moveTo>
                  <a:lnTo>
                    <a:pt x="3159297" y="0"/>
                  </a:lnTo>
                  <a:cubicBezTo>
                    <a:pt x="3166067" y="0"/>
                    <a:pt x="3171555" y="5488"/>
                    <a:pt x="3171555" y="12257"/>
                  </a:cubicBezTo>
                  <a:lnTo>
                    <a:pt x="3171555" y="845235"/>
                  </a:lnTo>
                  <a:cubicBezTo>
                    <a:pt x="3171555" y="852005"/>
                    <a:pt x="3166067" y="857492"/>
                    <a:pt x="3159297" y="857492"/>
                  </a:cubicBezTo>
                  <a:lnTo>
                    <a:pt x="12257" y="857492"/>
                  </a:lnTo>
                  <a:cubicBezTo>
                    <a:pt x="5488" y="857492"/>
                    <a:pt x="0" y="852005"/>
                    <a:pt x="0" y="845235"/>
                  </a:cubicBezTo>
                  <a:lnTo>
                    <a:pt x="0" y="12257"/>
                  </a:lnTo>
                  <a:cubicBezTo>
                    <a:pt x="0" y="5488"/>
                    <a:pt x="5488" y="0"/>
                    <a:pt x="12257" y="0"/>
                  </a:cubicBezTo>
                  <a:close/>
                </a:path>
              </a:pathLst>
            </a:custGeom>
            <a:solidFill>
              <a:srgbClr val="8AB7E2"/>
            </a:solidFill>
          </p:spPr>
        </p:sp>
        <p:sp>
          <p:nvSpPr>
            <p:cNvPr name="TextBox 12" id="12"/>
            <p:cNvSpPr txBox="true"/>
            <p:nvPr/>
          </p:nvSpPr>
          <p:spPr>
            <a:xfrm>
              <a:off x="0" y="85725"/>
              <a:ext cx="3171555" cy="771767"/>
            </a:xfrm>
            <a:prstGeom prst="rect">
              <a:avLst/>
            </a:prstGeom>
          </p:spPr>
          <p:txBody>
            <a:bodyPr anchor="ctr" rtlCol="false" tIns="50800" lIns="50800" bIns="50800" rIns="50800"/>
            <a:lstStyle/>
            <a:p>
              <a:pPr algn="ctr">
                <a:lnSpc>
                  <a:spcPts val="1925"/>
                </a:lnSpc>
              </a:pPr>
            </a:p>
          </p:txBody>
        </p:sp>
      </p:grpSp>
      <p:sp>
        <p:nvSpPr>
          <p:cNvPr name="TextBox 13" id="13"/>
          <p:cNvSpPr txBox="true"/>
          <p:nvPr/>
        </p:nvSpPr>
        <p:spPr>
          <a:xfrm rot="0">
            <a:off x="7874905" y="4811124"/>
            <a:ext cx="1578952" cy="1034423"/>
          </a:xfrm>
          <a:prstGeom prst="rect">
            <a:avLst/>
          </a:prstGeom>
        </p:spPr>
        <p:txBody>
          <a:bodyPr anchor="t" rtlCol="false" tIns="0" lIns="0" bIns="0" rIns="0">
            <a:spAutoFit/>
          </a:bodyPr>
          <a:lstStyle/>
          <a:p>
            <a:pPr algn="l">
              <a:lnSpc>
                <a:spcPts val="7680"/>
              </a:lnSpc>
            </a:pPr>
            <a:r>
              <a:rPr lang="en-US" sz="8000" spc="-656">
                <a:solidFill>
                  <a:srgbClr val="000000"/>
                </a:solidFill>
                <a:latin typeface="DM Sans"/>
                <a:ea typeface="DM Sans"/>
                <a:cs typeface="DM Sans"/>
                <a:sym typeface="DM Sans"/>
              </a:rPr>
              <a:t>02.</a:t>
            </a:r>
          </a:p>
        </p:txBody>
      </p:sp>
      <p:sp>
        <p:nvSpPr>
          <p:cNvPr name="TextBox 14" id="14"/>
          <p:cNvSpPr txBox="true"/>
          <p:nvPr/>
        </p:nvSpPr>
        <p:spPr>
          <a:xfrm rot="0">
            <a:off x="7874905" y="7411266"/>
            <a:ext cx="1578952" cy="1034423"/>
          </a:xfrm>
          <a:prstGeom prst="rect">
            <a:avLst/>
          </a:prstGeom>
        </p:spPr>
        <p:txBody>
          <a:bodyPr anchor="t" rtlCol="false" tIns="0" lIns="0" bIns="0" rIns="0">
            <a:spAutoFit/>
          </a:bodyPr>
          <a:lstStyle/>
          <a:p>
            <a:pPr algn="l">
              <a:lnSpc>
                <a:spcPts val="7680"/>
              </a:lnSpc>
            </a:pPr>
            <a:r>
              <a:rPr lang="en-US" sz="8000" spc="-656">
                <a:solidFill>
                  <a:srgbClr val="000000"/>
                </a:solidFill>
                <a:latin typeface="DM Sans"/>
                <a:ea typeface="DM Sans"/>
                <a:cs typeface="DM Sans"/>
                <a:sym typeface="DM Sans"/>
              </a:rPr>
              <a:t>03.</a:t>
            </a:r>
          </a:p>
        </p:txBody>
      </p:sp>
      <p:sp>
        <p:nvSpPr>
          <p:cNvPr name="TextBox 15" id="15"/>
          <p:cNvSpPr txBox="true"/>
          <p:nvPr/>
        </p:nvSpPr>
        <p:spPr>
          <a:xfrm rot="0">
            <a:off x="9453857" y="1541387"/>
            <a:ext cx="6897178" cy="1762126"/>
          </a:xfrm>
          <a:prstGeom prst="rect">
            <a:avLst/>
          </a:prstGeom>
        </p:spPr>
        <p:txBody>
          <a:bodyPr anchor="t" rtlCol="false" tIns="0" lIns="0" bIns="0" rIns="0">
            <a:spAutoFit/>
          </a:bodyPr>
          <a:lstStyle/>
          <a:p>
            <a:pPr algn="just" marL="0" indent="0" lvl="0">
              <a:lnSpc>
                <a:spcPts val="4724"/>
              </a:lnSpc>
              <a:spcBef>
                <a:spcPct val="0"/>
              </a:spcBef>
            </a:pPr>
            <a:r>
              <a:rPr lang="en-US" sz="3499" spc="55">
                <a:solidFill>
                  <a:srgbClr val="000000"/>
                </a:solidFill>
                <a:latin typeface="DM Sans"/>
                <a:ea typeface="DM Sans"/>
                <a:cs typeface="DM Sans"/>
                <a:sym typeface="DM Sans"/>
              </a:rPr>
              <a:t>Function-oriented languages cannot bind data and actions together.</a:t>
            </a:r>
          </a:p>
        </p:txBody>
      </p:sp>
      <p:sp>
        <p:nvSpPr>
          <p:cNvPr name="Freeform 16" id="16"/>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4472906" y="-2364815"/>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8" id="18"/>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9" id="19"/>
          <p:cNvSpPr/>
          <p:nvPr/>
        </p:nvSpPr>
        <p:spPr>
          <a:xfrm flipH="false" flipV="false" rot="0">
            <a:off x="-848571" y="-744412"/>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20" id="20"/>
          <p:cNvSpPr txBox="true"/>
          <p:nvPr/>
        </p:nvSpPr>
        <p:spPr>
          <a:xfrm rot="0">
            <a:off x="9453857" y="4503474"/>
            <a:ext cx="6897178" cy="1234441"/>
          </a:xfrm>
          <a:prstGeom prst="rect">
            <a:avLst/>
          </a:prstGeom>
        </p:spPr>
        <p:txBody>
          <a:bodyPr anchor="t" rtlCol="false" tIns="0" lIns="0" bIns="0" rIns="0">
            <a:spAutoFit/>
          </a:bodyPr>
          <a:lstStyle/>
          <a:p>
            <a:pPr algn="just" marL="0" indent="0" lvl="0">
              <a:lnSpc>
                <a:spcPts val="4994"/>
              </a:lnSpc>
              <a:spcBef>
                <a:spcPct val="0"/>
              </a:spcBef>
            </a:pPr>
            <a:r>
              <a:rPr lang="en-US" sz="3699" spc="59">
                <a:solidFill>
                  <a:srgbClr val="000000"/>
                </a:solidFill>
                <a:latin typeface="DM Sans"/>
                <a:ea typeface="DM Sans"/>
                <a:cs typeface="DM Sans"/>
                <a:sym typeface="DM Sans"/>
              </a:rPr>
              <a:t>In OOPs data will be secure not Global.</a:t>
            </a:r>
          </a:p>
        </p:txBody>
      </p:sp>
      <p:sp>
        <p:nvSpPr>
          <p:cNvPr name="TextBox 21" id="21"/>
          <p:cNvSpPr txBox="true"/>
          <p:nvPr/>
        </p:nvSpPr>
        <p:spPr>
          <a:xfrm rot="0">
            <a:off x="9453857" y="7182666"/>
            <a:ext cx="6897178" cy="1234441"/>
          </a:xfrm>
          <a:prstGeom prst="rect">
            <a:avLst/>
          </a:prstGeom>
        </p:spPr>
        <p:txBody>
          <a:bodyPr anchor="t" rtlCol="false" tIns="0" lIns="0" bIns="0" rIns="0">
            <a:spAutoFit/>
          </a:bodyPr>
          <a:lstStyle/>
          <a:p>
            <a:pPr algn="just" marL="0" indent="0" lvl="0">
              <a:lnSpc>
                <a:spcPts val="4994"/>
              </a:lnSpc>
              <a:spcBef>
                <a:spcPct val="0"/>
              </a:spcBef>
            </a:pPr>
            <a:r>
              <a:rPr lang="en-US" sz="3699" spc="59">
                <a:solidFill>
                  <a:srgbClr val="000000"/>
                </a:solidFill>
                <a:latin typeface="DM Sans"/>
                <a:ea typeface="DM Sans"/>
                <a:cs typeface="DM Sans"/>
                <a:sym typeface="DM Sans"/>
              </a:rPr>
              <a:t>In OOPs each object/class is independent.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1672061" y="1025292"/>
            <a:ext cx="5587239" cy="2662922"/>
            <a:chOff x="0" y="0"/>
            <a:chExt cx="2065940" cy="984643"/>
          </a:xfrm>
        </p:grpSpPr>
        <p:sp>
          <p:nvSpPr>
            <p:cNvPr name="Freeform 3" id="3"/>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4" id="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1672061" y="3808631"/>
            <a:ext cx="5587239" cy="2662922"/>
            <a:chOff x="0" y="0"/>
            <a:chExt cx="2065940" cy="984643"/>
          </a:xfrm>
        </p:grpSpPr>
        <p:sp>
          <p:nvSpPr>
            <p:cNvPr name="Freeform 6" id="6"/>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7" id="7"/>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1672061" y="6595378"/>
            <a:ext cx="5587239" cy="2662922"/>
            <a:chOff x="0" y="0"/>
            <a:chExt cx="2065940" cy="984643"/>
          </a:xfrm>
        </p:grpSpPr>
        <p:sp>
          <p:nvSpPr>
            <p:cNvPr name="Freeform 9" id="9"/>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0" id="10"/>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028700" y="1028700"/>
            <a:ext cx="5587239" cy="2662922"/>
            <a:chOff x="0" y="0"/>
            <a:chExt cx="2065940" cy="984643"/>
          </a:xfrm>
        </p:grpSpPr>
        <p:sp>
          <p:nvSpPr>
            <p:cNvPr name="Freeform 12" id="12"/>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3" id="13"/>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028700" y="3812039"/>
            <a:ext cx="5587239" cy="2662922"/>
            <a:chOff x="0" y="0"/>
            <a:chExt cx="2065940" cy="984643"/>
          </a:xfrm>
        </p:grpSpPr>
        <p:sp>
          <p:nvSpPr>
            <p:cNvPr name="Freeform 15" id="15"/>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6" id="16"/>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1028700" y="6598786"/>
            <a:ext cx="5587239" cy="2662922"/>
            <a:chOff x="0" y="0"/>
            <a:chExt cx="2065940" cy="984643"/>
          </a:xfrm>
        </p:grpSpPr>
        <p:sp>
          <p:nvSpPr>
            <p:cNvPr name="Freeform 18" id="18"/>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9" id="19"/>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0" id="20"/>
          <p:cNvSpPr/>
          <p:nvPr/>
        </p:nvSpPr>
        <p:spPr>
          <a:xfrm flipH="false" flipV="false" rot="-7900054">
            <a:off x="7348622" y="2133028"/>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2700000">
            <a:off x="10017119" y="214449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3209977">
            <a:off x="9982257" y="7689589"/>
            <a:ext cx="1012981" cy="454921"/>
          </a:xfrm>
          <a:custGeom>
            <a:avLst/>
            <a:gdLst/>
            <a:ahLst/>
            <a:cxnLst/>
            <a:rect r="r" b="b" t="t" l="l"/>
            <a:pathLst>
              <a:path h="454921" w="1012981">
                <a:moveTo>
                  <a:pt x="0" y="0"/>
                </a:moveTo>
                <a:lnTo>
                  <a:pt x="1012981" y="0"/>
                </a:lnTo>
                <a:lnTo>
                  <a:pt x="1012981"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7866361">
            <a:off x="7243302" y="766545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1206092" y="1389939"/>
            <a:ext cx="5246402" cy="1774400"/>
          </a:xfrm>
          <a:prstGeom prst="rect">
            <a:avLst/>
          </a:prstGeom>
        </p:spPr>
        <p:txBody>
          <a:bodyPr anchor="t" rtlCol="false" tIns="0" lIns="0" bIns="0" rIns="0">
            <a:spAutoFit/>
          </a:bodyPr>
          <a:lstStyle/>
          <a:p>
            <a:pPr algn="l" marL="0" indent="0" lvl="0">
              <a:lnSpc>
                <a:spcPts val="7210"/>
              </a:lnSpc>
            </a:pPr>
            <a:r>
              <a:rPr lang="en-US" sz="4839">
                <a:solidFill>
                  <a:srgbClr val="000000"/>
                </a:solidFill>
                <a:latin typeface="DM Sans"/>
                <a:ea typeface="DM Sans"/>
                <a:cs typeface="DM Sans"/>
                <a:sym typeface="DM Sans"/>
              </a:rPr>
              <a:t>Program is made using function .</a:t>
            </a:r>
          </a:p>
        </p:txBody>
      </p:sp>
      <p:sp>
        <p:nvSpPr>
          <p:cNvPr name="TextBox 25" id="25"/>
          <p:cNvSpPr txBox="true"/>
          <p:nvPr/>
        </p:nvSpPr>
        <p:spPr>
          <a:xfrm rot="0">
            <a:off x="6870368" y="4209122"/>
            <a:ext cx="4496893" cy="1964005"/>
          </a:xfrm>
          <a:prstGeom prst="rect">
            <a:avLst/>
          </a:prstGeom>
        </p:spPr>
        <p:txBody>
          <a:bodyPr anchor="t" rtlCol="false" tIns="0" lIns="0" bIns="0" rIns="0">
            <a:spAutoFit/>
          </a:bodyPr>
          <a:lstStyle/>
          <a:p>
            <a:pPr algn="ctr" marL="0" indent="0" lvl="1">
              <a:lnSpc>
                <a:spcPts val="3857"/>
              </a:lnSpc>
              <a:spcBef>
                <a:spcPct val="0"/>
              </a:spcBef>
            </a:pPr>
            <a:r>
              <a:rPr lang="en-US" sz="3976">
                <a:solidFill>
                  <a:srgbClr val="000000"/>
                </a:solidFill>
                <a:latin typeface="Leckerli One"/>
                <a:ea typeface="Leckerli One"/>
                <a:cs typeface="Leckerli One"/>
                <a:sym typeface="Leckerli One"/>
              </a:rPr>
              <a:t>Difference between Function Oriented and Object Oriented</a:t>
            </a:r>
          </a:p>
        </p:txBody>
      </p:sp>
      <p:sp>
        <p:nvSpPr>
          <p:cNvPr name="TextBox 26" id="26"/>
          <p:cNvSpPr txBox="true"/>
          <p:nvPr/>
        </p:nvSpPr>
        <p:spPr>
          <a:xfrm rot="0">
            <a:off x="1206092" y="4149295"/>
            <a:ext cx="5246402" cy="1774400"/>
          </a:xfrm>
          <a:prstGeom prst="rect">
            <a:avLst/>
          </a:prstGeom>
        </p:spPr>
        <p:txBody>
          <a:bodyPr anchor="t" rtlCol="false" tIns="0" lIns="0" bIns="0" rIns="0">
            <a:spAutoFit/>
          </a:bodyPr>
          <a:lstStyle/>
          <a:p>
            <a:pPr algn="l" marL="0" indent="0" lvl="0">
              <a:lnSpc>
                <a:spcPts val="7210"/>
              </a:lnSpc>
            </a:pPr>
            <a:r>
              <a:rPr lang="en-US" sz="4839">
                <a:solidFill>
                  <a:srgbClr val="000000"/>
                </a:solidFill>
                <a:latin typeface="DM Sans"/>
                <a:ea typeface="DM Sans"/>
                <a:cs typeface="DM Sans"/>
                <a:sym typeface="DM Sans"/>
              </a:rPr>
              <a:t>Focus on logic and functions.</a:t>
            </a:r>
          </a:p>
        </p:txBody>
      </p:sp>
      <p:sp>
        <p:nvSpPr>
          <p:cNvPr name="TextBox 27" id="27"/>
          <p:cNvSpPr txBox="true"/>
          <p:nvPr/>
        </p:nvSpPr>
        <p:spPr>
          <a:xfrm rot="0">
            <a:off x="1199118" y="7401005"/>
            <a:ext cx="5246402" cy="860000"/>
          </a:xfrm>
          <a:prstGeom prst="rect">
            <a:avLst/>
          </a:prstGeom>
        </p:spPr>
        <p:txBody>
          <a:bodyPr anchor="t" rtlCol="false" tIns="0" lIns="0" bIns="0" rIns="0">
            <a:spAutoFit/>
          </a:bodyPr>
          <a:lstStyle/>
          <a:p>
            <a:pPr algn="l" marL="0" indent="0" lvl="0">
              <a:lnSpc>
                <a:spcPts val="7210"/>
              </a:lnSpc>
            </a:pPr>
            <a:r>
              <a:rPr lang="en-US" sz="4839">
                <a:solidFill>
                  <a:srgbClr val="000000"/>
                </a:solidFill>
                <a:latin typeface="DM Sans"/>
                <a:ea typeface="DM Sans"/>
                <a:cs typeface="DM Sans"/>
                <a:sym typeface="DM Sans"/>
              </a:rPr>
              <a:t>Ex :- C language</a:t>
            </a:r>
          </a:p>
        </p:txBody>
      </p:sp>
      <p:sp>
        <p:nvSpPr>
          <p:cNvPr name="TextBox 28" id="28"/>
          <p:cNvSpPr txBox="true"/>
          <p:nvPr/>
        </p:nvSpPr>
        <p:spPr>
          <a:xfrm rot="0">
            <a:off x="11757270" y="1662658"/>
            <a:ext cx="5416821" cy="1488748"/>
          </a:xfrm>
          <a:prstGeom prst="rect">
            <a:avLst/>
          </a:prstGeom>
        </p:spPr>
        <p:txBody>
          <a:bodyPr anchor="t" rtlCol="false" tIns="0" lIns="0" bIns="0" rIns="0">
            <a:spAutoFit/>
          </a:bodyPr>
          <a:lstStyle/>
          <a:p>
            <a:pPr algn="l" marL="0" indent="0" lvl="0">
              <a:lnSpc>
                <a:spcPts val="6050"/>
              </a:lnSpc>
            </a:pPr>
            <a:r>
              <a:rPr lang="en-US" sz="4060">
                <a:solidFill>
                  <a:srgbClr val="000000"/>
                </a:solidFill>
                <a:latin typeface="DM Sans"/>
                <a:ea typeface="DM Sans"/>
                <a:cs typeface="DM Sans"/>
                <a:sym typeface="DM Sans"/>
              </a:rPr>
              <a:t>Program is made using Object and classes .</a:t>
            </a:r>
          </a:p>
        </p:txBody>
      </p:sp>
      <p:sp>
        <p:nvSpPr>
          <p:cNvPr name="TextBox 29" id="29"/>
          <p:cNvSpPr txBox="true"/>
          <p:nvPr/>
        </p:nvSpPr>
        <p:spPr>
          <a:xfrm rot="0">
            <a:off x="11842479" y="4009097"/>
            <a:ext cx="5246402" cy="2188546"/>
          </a:xfrm>
          <a:prstGeom prst="rect">
            <a:avLst/>
          </a:prstGeom>
        </p:spPr>
        <p:txBody>
          <a:bodyPr anchor="t" rtlCol="false" tIns="0" lIns="0" bIns="0" rIns="0">
            <a:spAutoFit/>
          </a:bodyPr>
          <a:lstStyle/>
          <a:p>
            <a:pPr algn="l" marL="0" indent="0" lvl="0">
              <a:lnSpc>
                <a:spcPts val="5869"/>
              </a:lnSpc>
            </a:pPr>
            <a:r>
              <a:rPr lang="en-US" sz="3939">
                <a:solidFill>
                  <a:srgbClr val="000000"/>
                </a:solidFill>
                <a:latin typeface="DM Sans"/>
                <a:ea typeface="DM Sans"/>
                <a:cs typeface="DM Sans"/>
                <a:sym typeface="DM Sans"/>
              </a:rPr>
              <a:t>Focus on data (object) and behaviour(method).</a:t>
            </a:r>
          </a:p>
        </p:txBody>
      </p:sp>
      <p:sp>
        <p:nvSpPr>
          <p:cNvPr name="TextBox 30" id="30"/>
          <p:cNvSpPr txBox="true"/>
          <p:nvPr/>
        </p:nvSpPr>
        <p:spPr>
          <a:xfrm rot="0">
            <a:off x="11842479" y="7004953"/>
            <a:ext cx="5246402" cy="1774400"/>
          </a:xfrm>
          <a:prstGeom prst="rect">
            <a:avLst/>
          </a:prstGeom>
        </p:spPr>
        <p:txBody>
          <a:bodyPr anchor="t" rtlCol="false" tIns="0" lIns="0" bIns="0" rIns="0">
            <a:spAutoFit/>
          </a:bodyPr>
          <a:lstStyle/>
          <a:p>
            <a:pPr algn="l" marL="0" indent="0" lvl="0">
              <a:lnSpc>
                <a:spcPts val="7210"/>
              </a:lnSpc>
            </a:pPr>
            <a:r>
              <a:rPr lang="en-US" sz="4839">
                <a:solidFill>
                  <a:srgbClr val="000000"/>
                </a:solidFill>
                <a:latin typeface="DM Sans"/>
                <a:ea typeface="DM Sans"/>
                <a:cs typeface="DM Sans"/>
                <a:sym typeface="DM Sans"/>
              </a:rPr>
              <a:t>Ex :- Java , C++ , python</a:t>
            </a:r>
          </a:p>
        </p:txBody>
      </p:sp>
      <p:sp>
        <p:nvSpPr>
          <p:cNvPr name="TextBox 31" id="31"/>
          <p:cNvSpPr txBox="true"/>
          <p:nvPr/>
        </p:nvSpPr>
        <p:spPr>
          <a:xfrm rot="0">
            <a:off x="1372748" y="379145"/>
            <a:ext cx="4496893" cy="525730"/>
          </a:xfrm>
          <a:prstGeom prst="rect">
            <a:avLst/>
          </a:prstGeom>
        </p:spPr>
        <p:txBody>
          <a:bodyPr anchor="t" rtlCol="false" tIns="0" lIns="0" bIns="0" rIns="0">
            <a:spAutoFit/>
          </a:bodyPr>
          <a:lstStyle/>
          <a:p>
            <a:pPr algn="ctr" marL="0" indent="0" lvl="1">
              <a:lnSpc>
                <a:spcPts val="3857"/>
              </a:lnSpc>
              <a:spcBef>
                <a:spcPct val="0"/>
              </a:spcBef>
            </a:pPr>
            <a:r>
              <a:rPr lang="en-US" sz="3976">
                <a:solidFill>
                  <a:srgbClr val="000000"/>
                </a:solidFill>
                <a:latin typeface="Gagalin"/>
                <a:ea typeface="Gagalin"/>
                <a:cs typeface="Gagalin"/>
                <a:sym typeface="Gagalin"/>
              </a:rPr>
              <a:t>Function Oriented </a:t>
            </a:r>
          </a:p>
        </p:txBody>
      </p:sp>
      <p:sp>
        <p:nvSpPr>
          <p:cNvPr name="TextBox 32" id="32"/>
          <p:cNvSpPr txBox="true"/>
          <p:nvPr/>
        </p:nvSpPr>
        <p:spPr>
          <a:xfrm rot="0">
            <a:off x="12217234" y="375737"/>
            <a:ext cx="4496893" cy="525730"/>
          </a:xfrm>
          <a:prstGeom prst="rect">
            <a:avLst/>
          </a:prstGeom>
        </p:spPr>
        <p:txBody>
          <a:bodyPr anchor="t" rtlCol="false" tIns="0" lIns="0" bIns="0" rIns="0">
            <a:spAutoFit/>
          </a:bodyPr>
          <a:lstStyle/>
          <a:p>
            <a:pPr algn="ctr" marL="0" indent="0" lvl="1">
              <a:lnSpc>
                <a:spcPts val="3857"/>
              </a:lnSpc>
              <a:spcBef>
                <a:spcPct val="0"/>
              </a:spcBef>
            </a:pPr>
            <a:r>
              <a:rPr lang="en-US" sz="3976">
                <a:solidFill>
                  <a:srgbClr val="000000"/>
                </a:solidFill>
                <a:latin typeface="Gagalin"/>
                <a:ea typeface="Gagalin"/>
                <a:cs typeface="Gagalin"/>
                <a:sym typeface="Gagalin"/>
              </a:rPr>
              <a:t> Object Oriented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8551972" y="2394098"/>
            <a:ext cx="8873216" cy="6864202"/>
          </a:xfrm>
          <a:custGeom>
            <a:avLst/>
            <a:gdLst/>
            <a:ahLst/>
            <a:cxnLst/>
            <a:rect r="r" b="b" t="t" l="l"/>
            <a:pathLst>
              <a:path h="6864202" w="8873216">
                <a:moveTo>
                  <a:pt x="0" y="0"/>
                </a:moveTo>
                <a:lnTo>
                  <a:pt x="8873216" y="0"/>
                </a:lnTo>
                <a:lnTo>
                  <a:pt x="8873216" y="6864202"/>
                </a:lnTo>
                <a:lnTo>
                  <a:pt x="0" y="6864202"/>
                </a:lnTo>
                <a:lnTo>
                  <a:pt x="0" y="0"/>
                </a:lnTo>
                <a:close/>
              </a:path>
            </a:pathLst>
          </a:custGeom>
          <a:blipFill>
            <a:blip r:embed="rId28"/>
            <a:stretch>
              <a:fillRect l="-8061" t="0" r="-8061" b="0"/>
            </a:stretch>
          </a:blipFill>
        </p:spPr>
      </p:sp>
      <p:sp>
        <p:nvSpPr>
          <p:cNvPr name="TextBox 16" id="16"/>
          <p:cNvSpPr txBox="true"/>
          <p:nvPr/>
        </p:nvSpPr>
        <p:spPr>
          <a:xfrm rot="0">
            <a:off x="4221977" y="1195984"/>
            <a:ext cx="9844046" cy="880112"/>
          </a:xfrm>
          <a:prstGeom prst="rect">
            <a:avLst/>
          </a:prstGeom>
        </p:spPr>
        <p:txBody>
          <a:bodyPr anchor="t" rtlCol="false" tIns="0" lIns="0" bIns="0" rIns="0">
            <a:spAutoFit/>
          </a:bodyPr>
          <a:lstStyle/>
          <a:p>
            <a:pPr algn="ctr">
              <a:lnSpc>
                <a:spcPts val="7154"/>
              </a:lnSpc>
              <a:spcBef>
                <a:spcPct val="0"/>
              </a:spcBef>
            </a:pPr>
            <a:r>
              <a:rPr lang="en-US" sz="5299" spc="317">
                <a:solidFill>
                  <a:srgbClr val="000000"/>
                </a:solidFill>
                <a:latin typeface="League Spartan"/>
                <a:ea typeface="League Spartan"/>
                <a:cs typeface="League Spartan"/>
                <a:sym typeface="League Spartan"/>
              </a:rPr>
              <a:t>How OOPs ?</a:t>
            </a:r>
          </a:p>
        </p:txBody>
      </p:sp>
      <p:sp>
        <p:nvSpPr>
          <p:cNvPr name="TextBox 17" id="17"/>
          <p:cNvSpPr txBox="true"/>
          <p:nvPr/>
        </p:nvSpPr>
        <p:spPr>
          <a:xfrm rot="0">
            <a:off x="1950706" y="2464598"/>
            <a:ext cx="15308594" cy="701041"/>
          </a:xfrm>
          <a:prstGeom prst="rect">
            <a:avLst/>
          </a:prstGeom>
        </p:spPr>
        <p:txBody>
          <a:bodyPr anchor="t" rtlCol="false" tIns="0" lIns="0" bIns="0" rIns="0">
            <a:spAutoFit/>
          </a:bodyPr>
          <a:lstStyle/>
          <a:p>
            <a:pPr algn="l">
              <a:lnSpc>
                <a:spcPts val="5669"/>
              </a:lnSpc>
            </a:pPr>
            <a:r>
              <a:rPr lang="en-US" sz="4199" spc="251">
                <a:solidFill>
                  <a:srgbClr val="000000"/>
                </a:solidFill>
                <a:latin typeface="League Spartan"/>
                <a:ea typeface="League Spartan"/>
                <a:cs typeface="League Spartan"/>
                <a:sym typeface="League Spartan"/>
              </a:rPr>
              <a:t>Concept of OOPs :-</a:t>
            </a:r>
          </a:p>
        </p:txBody>
      </p:sp>
      <p:sp>
        <p:nvSpPr>
          <p:cNvPr name="TextBox 18" id="18"/>
          <p:cNvSpPr txBox="true"/>
          <p:nvPr/>
        </p:nvSpPr>
        <p:spPr>
          <a:xfrm rot="0">
            <a:off x="2008817" y="3407332"/>
            <a:ext cx="14757988" cy="4272916"/>
          </a:xfrm>
          <a:prstGeom prst="rect">
            <a:avLst/>
          </a:prstGeom>
        </p:spPr>
        <p:txBody>
          <a:bodyPr anchor="t" rtlCol="false" tIns="0" lIns="0" bIns="0" rIns="0">
            <a:spAutoFit/>
          </a:bodyPr>
          <a:lstStyle/>
          <a:p>
            <a:pPr algn="l" marL="906767" indent="-453384" lvl="1">
              <a:lnSpc>
                <a:spcPts val="5669"/>
              </a:lnSpc>
              <a:buAutoNum type="arabicPeriod" startAt="1"/>
            </a:pPr>
            <a:r>
              <a:rPr lang="en-US" sz="4199" spc="251">
                <a:solidFill>
                  <a:srgbClr val="000000"/>
                </a:solidFill>
                <a:latin typeface="League Spartan"/>
                <a:ea typeface="League Spartan"/>
                <a:cs typeface="League Spartan"/>
                <a:sym typeface="League Spartan"/>
              </a:rPr>
              <a:t>Object</a:t>
            </a:r>
          </a:p>
          <a:p>
            <a:pPr algn="l" marL="906767" indent="-453384" lvl="1">
              <a:lnSpc>
                <a:spcPts val="5669"/>
              </a:lnSpc>
              <a:buAutoNum type="arabicPeriod" startAt="1"/>
            </a:pPr>
            <a:r>
              <a:rPr lang="en-US" sz="4199" spc="251" u="none">
                <a:solidFill>
                  <a:srgbClr val="000000"/>
                </a:solidFill>
                <a:latin typeface="League Spartan"/>
                <a:ea typeface="League Spartan"/>
                <a:cs typeface="League Spartan"/>
                <a:sym typeface="League Spartan"/>
              </a:rPr>
              <a:t>Class</a:t>
            </a:r>
          </a:p>
          <a:p>
            <a:pPr algn="l" marL="906767" indent="-453384" lvl="1">
              <a:lnSpc>
                <a:spcPts val="5669"/>
              </a:lnSpc>
              <a:buAutoNum type="arabicPeriod" startAt="1"/>
            </a:pPr>
            <a:r>
              <a:rPr lang="en-US" sz="4199" spc="251" u="none">
                <a:solidFill>
                  <a:srgbClr val="000000"/>
                </a:solidFill>
                <a:latin typeface="League Spartan"/>
                <a:ea typeface="League Spartan"/>
                <a:cs typeface="League Spartan"/>
                <a:sym typeface="League Spartan"/>
              </a:rPr>
              <a:t>Encapsulation</a:t>
            </a:r>
          </a:p>
          <a:p>
            <a:pPr algn="l" marL="906767" indent="-453384" lvl="1">
              <a:lnSpc>
                <a:spcPts val="5669"/>
              </a:lnSpc>
              <a:buAutoNum type="arabicPeriod" startAt="1"/>
            </a:pPr>
            <a:r>
              <a:rPr lang="en-US" sz="4199" spc="251" u="none">
                <a:solidFill>
                  <a:srgbClr val="000000"/>
                </a:solidFill>
                <a:latin typeface="League Spartan"/>
                <a:ea typeface="League Spartan"/>
                <a:cs typeface="League Spartan"/>
                <a:sym typeface="League Spartan"/>
              </a:rPr>
              <a:t>Abstraction</a:t>
            </a:r>
          </a:p>
          <a:p>
            <a:pPr algn="l" marL="906767" indent="-453384" lvl="1">
              <a:lnSpc>
                <a:spcPts val="5669"/>
              </a:lnSpc>
              <a:buAutoNum type="arabicPeriod" startAt="1"/>
            </a:pPr>
            <a:r>
              <a:rPr lang="en-US" sz="4199" spc="251" u="none">
                <a:solidFill>
                  <a:srgbClr val="000000"/>
                </a:solidFill>
                <a:latin typeface="League Spartan"/>
                <a:ea typeface="League Spartan"/>
                <a:cs typeface="League Spartan"/>
                <a:sym typeface="League Spartan"/>
              </a:rPr>
              <a:t>Polymorphism</a:t>
            </a:r>
          </a:p>
          <a:p>
            <a:pPr algn="l" marL="906767" indent="-453384" lvl="1">
              <a:lnSpc>
                <a:spcPts val="5669"/>
              </a:lnSpc>
              <a:buAutoNum type="arabicPeriod" startAt="1"/>
            </a:pPr>
            <a:r>
              <a:rPr lang="en-US" sz="4199" spc="251" u="none">
                <a:solidFill>
                  <a:srgbClr val="000000"/>
                </a:solidFill>
                <a:latin typeface="League Spartan"/>
                <a:ea typeface="League Spartan"/>
                <a:cs typeface="League Spartan"/>
                <a:sym typeface="League Spartan"/>
              </a:rPr>
              <a:t>Inheritance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3706475" y="5946571"/>
            <a:ext cx="5029317" cy="4353327"/>
          </a:xfrm>
          <a:custGeom>
            <a:avLst/>
            <a:gdLst/>
            <a:ahLst/>
            <a:cxnLst/>
            <a:rect r="r" b="b" t="t" l="l"/>
            <a:pathLst>
              <a:path h="4353327" w="5029317">
                <a:moveTo>
                  <a:pt x="0" y="0"/>
                </a:moveTo>
                <a:lnTo>
                  <a:pt x="5029317" y="0"/>
                </a:lnTo>
                <a:lnTo>
                  <a:pt x="5029317" y="4353327"/>
                </a:lnTo>
                <a:lnTo>
                  <a:pt x="0" y="4353327"/>
                </a:lnTo>
                <a:lnTo>
                  <a:pt x="0" y="0"/>
                </a:lnTo>
                <a:close/>
              </a:path>
            </a:pathLst>
          </a:custGeom>
          <a:blipFill>
            <a:blip r:embed="rId26"/>
            <a:stretch>
              <a:fillRect l="0" t="-6671" r="0" b="-8856"/>
            </a:stretch>
          </a:blipFill>
        </p:spPr>
      </p:sp>
      <p:sp>
        <p:nvSpPr>
          <p:cNvPr name="TextBox 15" id="15"/>
          <p:cNvSpPr txBox="true"/>
          <p:nvPr/>
        </p:nvSpPr>
        <p:spPr>
          <a:xfrm rot="0">
            <a:off x="4221977" y="750331"/>
            <a:ext cx="9844046" cy="701041"/>
          </a:xfrm>
          <a:prstGeom prst="rect">
            <a:avLst/>
          </a:prstGeom>
        </p:spPr>
        <p:txBody>
          <a:bodyPr anchor="t" rtlCol="false" tIns="0" lIns="0" bIns="0" rIns="0">
            <a:spAutoFit/>
          </a:bodyPr>
          <a:lstStyle/>
          <a:p>
            <a:pPr algn="ctr">
              <a:lnSpc>
                <a:spcPts val="5669"/>
              </a:lnSpc>
              <a:spcBef>
                <a:spcPct val="0"/>
              </a:spcBef>
            </a:pPr>
            <a:r>
              <a:rPr lang="en-US" sz="4199" spc="251">
                <a:solidFill>
                  <a:srgbClr val="000000"/>
                </a:solidFill>
                <a:latin typeface="League Spartan"/>
                <a:ea typeface="League Spartan"/>
                <a:cs typeface="League Spartan"/>
                <a:sym typeface="League Spartan"/>
              </a:rPr>
              <a:t>1 - Object</a:t>
            </a:r>
          </a:p>
        </p:txBody>
      </p:sp>
      <p:sp>
        <p:nvSpPr>
          <p:cNvPr name="TextBox 16" id="16"/>
          <p:cNvSpPr txBox="true"/>
          <p:nvPr/>
        </p:nvSpPr>
        <p:spPr>
          <a:xfrm rot="0">
            <a:off x="1950706" y="1584959"/>
            <a:ext cx="15308594" cy="3558541"/>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Object is a real world entity.</a:t>
            </a:r>
          </a:p>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Object belongs to the class/factory.</a:t>
            </a:r>
          </a:p>
          <a:p>
            <a:pPr algn="l" marL="906767" indent="-453384" lvl="1">
              <a:lnSpc>
                <a:spcPts val="5669"/>
              </a:lnSpc>
              <a:buFont typeface="Arial"/>
              <a:buChar char="•"/>
            </a:pPr>
            <a:r>
              <a:rPr lang="en-US" sz="4199" spc="251" u="none">
                <a:solidFill>
                  <a:srgbClr val="000000"/>
                </a:solidFill>
                <a:latin typeface="League Spartan"/>
                <a:ea typeface="League Spartan"/>
                <a:cs typeface="League Spartan"/>
                <a:sym typeface="League Spartan"/>
              </a:rPr>
              <a:t>Object may have certain n number of properties or may have certain n number of behaviours.</a:t>
            </a:r>
          </a:p>
        </p:txBody>
      </p:sp>
      <p:sp>
        <p:nvSpPr>
          <p:cNvPr name="TextBox 17" id="17"/>
          <p:cNvSpPr txBox="true"/>
          <p:nvPr/>
        </p:nvSpPr>
        <p:spPr>
          <a:xfrm rot="0">
            <a:off x="1950706" y="4698700"/>
            <a:ext cx="14757988" cy="3558541"/>
          </a:xfrm>
          <a:prstGeom prst="rect">
            <a:avLst/>
          </a:prstGeom>
        </p:spPr>
        <p:txBody>
          <a:bodyPr anchor="t" rtlCol="false" tIns="0" lIns="0" bIns="0" rIns="0">
            <a:spAutoFit/>
          </a:bodyPr>
          <a:lstStyle/>
          <a:p>
            <a:pPr algn="l">
              <a:lnSpc>
                <a:spcPts val="5669"/>
              </a:lnSpc>
            </a:pPr>
          </a:p>
          <a:p>
            <a:pPr algn="l" marL="906767" indent="-453384" lvl="1">
              <a:lnSpc>
                <a:spcPts val="5669"/>
              </a:lnSpc>
              <a:buFont typeface="Arial"/>
              <a:buChar char="•"/>
            </a:pPr>
            <a:r>
              <a:rPr lang="en-US" sz="4199" spc="251" u="none">
                <a:solidFill>
                  <a:srgbClr val="000000"/>
                </a:solidFill>
                <a:latin typeface="League Spartan"/>
                <a:ea typeface="League Spartan"/>
                <a:cs typeface="League Spartan"/>
                <a:sym typeface="League Spartan"/>
              </a:rPr>
              <a:t>Example :- Pen , AC , Fan , etc.</a:t>
            </a:r>
          </a:p>
          <a:p>
            <a:pPr algn="l">
              <a:lnSpc>
                <a:spcPts val="5669"/>
              </a:lnSpc>
            </a:pPr>
          </a:p>
          <a:p>
            <a:pPr algn="l">
              <a:lnSpc>
                <a:spcPts val="5669"/>
              </a:lnSpc>
            </a:pPr>
          </a:p>
          <a:p>
            <a:pPr algn="l">
              <a:lnSpc>
                <a:spcPts val="5669"/>
              </a:lnSpc>
            </a:pPr>
          </a:p>
        </p:txBody>
      </p:sp>
      <p:sp>
        <p:nvSpPr>
          <p:cNvPr name="TextBox 18" id="18"/>
          <p:cNvSpPr txBox="true"/>
          <p:nvPr/>
        </p:nvSpPr>
        <p:spPr>
          <a:xfrm rot="0">
            <a:off x="1028700" y="6355888"/>
            <a:ext cx="16624685" cy="1072516"/>
          </a:xfrm>
          <a:prstGeom prst="rect">
            <a:avLst/>
          </a:prstGeom>
        </p:spPr>
        <p:txBody>
          <a:bodyPr anchor="t" rtlCol="false" tIns="0" lIns="0" bIns="0" rIns="0">
            <a:spAutoFit/>
          </a:bodyPr>
          <a:lstStyle/>
          <a:p>
            <a:pPr algn="ctr">
              <a:lnSpc>
                <a:spcPts val="4319"/>
              </a:lnSpc>
            </a:pPr>
            <a:r>
              <a:rPr lang="en-US" sz="3199" spc="191">
                <a:solidFill>
                  <a:srgbClr val="000000"/>
                </a:solidFill>
                <a:latin typeface="League Spartan"/>
                <a:ea typeface="League Spartan"/>
                <a:cs typeface="League Spartan"/>
                <a:sym typeface="League Spartan"/>
              </a:rPr>
              <a:t>(Color and Size are the properties and what they work is called behaviour.)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TextBox 12" id="12"/>
          <p:cNvSpPr txBox="true"/>
          <p:nvPr/>
        </p:nvSpPr>
        <p:spPr>
          <a:xfrm rot="0">
            <a:off x="3864059" y="644842"/>
            <a:ext cx="9844046" cy="701041"/>
          </a:xfrm>
          <a:prstGeom prst="rect">
            <a:avLst/>
          </a:prstGeom>
        </p:spPr>
        <p:txBody>
          <a:bodyPr anchor="t" rtlCol="false" tIns="0" lIns="0" bIns="0" rIns="0">
            <a:spAutoFit/>
          </a:bodyPr>
          <a:lstStyle/>
          <a:p>
            <a:pPr algn="ctr">
              <a:lnSpc>
                <a:spcPts val="5669"/>
              </a:lnSpc>
              <a:spcBef>
                <a:spcPct val="0"/>
              </a:spcBef>
            </a:pPr>
            <a:r>
              <a:rPr lang="en-US" sz="4199" spc="251">
                <a:solidFill>
                  <a:srgbClr val="000000"/>
                </a:solidFill>
                <a:latin typeface="League Spartan"/>
                <a:ea typeface="League Spartan"/>
                <a:cs typeface="League Spartan"/>
                <a:sym typeface="League Spartan"/>
              </a:rPr>
              <a:t>2 - Class</a:t>
            </a:r>
          </a:p>
        </p:txBody>
      </p:sp>
      <p:sp>
        <p:nvSpPr>
          <p:cNvPr name="TextBox 13" id="13"/>
          <p:cNvSpPr txBox="true"/>
          <p:nvPr/>
        </p:nvSpPr>
        <p:spPr>
          <a:xfrm rot="0">
            <a:off x="1950706" y="1584959"/>
            <a:ext cx="15308594" cy="2844166"/>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Class is a User define type.</a:t>
            </a:r>
          </a:p>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Once we define a class then we can create n number of objects.</a:t>
            </a:r>
          </a:p>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Class is the collection of similar type of object.</a:t>
            </a:r>
          </a:p>
        </p:txBody>
      </p:sp>
      <p:sp>
        <p:nvSpPr>
          <p:cNvPr name="TextBox 14" id="14"/>
          <p:cNvSpPr txBox="true"/>
          <p:nvPr/>
        </p:nvSpPr>
        <p:spPr>
          <a:xfrm rot="0">
            <a:off x="1950706" y="3989550"/>
            <a:ext cx="14757988" cy="3558541"/>
          </a:xfrm>
          <a:prstGeom prst="rect">
            <a:avLst/>
          </a:prstGeom>
        </p:spPr>
        <p:txBody>
          <a:bodyPr anchor="t" rtlCol="false" tIns="0" lIns="0" bIns="0" rIns="0">
            <a:spAutoFit/>
          </a:bodyPr>
          <a:lstStyle/>
          <a:p>
            <a:pPr algn="l">
              <a:lnSpc>
                <a:spcPts val="5669"/>
              </a:lnSpc>
            </a:pPr>
          </a:p>
          <a:p>
            <a:pPr algn="l" marL="906767" indent="-453384" lvl="1">
              <a:lnSpc>
                <a:spcPts val="5669"/>
              </a:lnSpc>
              <a:buFont typeface="Arial"/>
              <a:buChar char="•"/>
            </a:pPr>
            <a:r>
              <a:rPr lang="en-US" sz="4199" spc="251" u="none">
                <a:solidFill>
                  <a:srgbClr val="000000"/>
                </a:solidFill>
                <a:latin typeface="League Spartan"/>
                <a:ea typeface="League Spartan"/>
                <a:cs typeface="League Spartan"/>
                <a:sym typeface="League Spartan"/>
              </a:rPr>
              <a:t>Example :- </a:t>
            </a:r>
          </a:p>
          <a:p>
            <a:pPr algn="l">
              <a:lnSpc>
                <a:spcPts val="5669"/>
              </a:lnSpc>
            </a:pPr>
          </a:p>
          <a:p>
            <a:pPr algn="l">
              <a:lnSpc>
                <a:spcPts val="5669"/>
              </a:lnSpc>
            </a:pPr>
          </a:p>
          <a:p>
            <a:pPr algn="l">
              <a:lnSpc>
                <a:spcPts val="5669"/>
              </a:lnSpc>
            </a:pPr>
          </a:p>
        </p:txBody>
      </p:sp>
      <p:graphicFrame>
        <p:nvGraphicFramePr>
          <p:cNvPr name="Table 15" id="15"/>
          <p:cNvGraphicFramePr>
            <a:graphicFrameLocks noGrp="true"/>
          </p:cNvGraphicFramePr>
          <p:nvPr/>
        </p:nvGraphicFramePr>
        <p:xfrm>
          <a:off x="2405207" y="5837883"/>
          <a:ext cx="14688751" cy="5400675"/>
        </p:xfrm>
        <a:graphic>
          <a:graphicData uri="http://schemas.openxmlformats.org/drawingml/2006/table">
            <a:tbl>
              <a:tblPr/>
              <a:tblGrid>
                <a:gridCol w="4368544"/>
                <a:gridCol w="5025140"/>
                <a:gridCol w="5295067"/>
              </a:tblGrid>
              <a:tr h="1533920">
                <a:tc>
                  <a:txBody>
                    <a:bodyPr anchor="t" rtlCol="false"/>
                    <a:lstStyle/>
                    <a:p>
                      <a:pPr algn="ctr">
                        <a:lnSpc>
                          <a:spcPts val="6859"/>
                        </a:lnSpc>
                        <a:defRPr/>
                      </a:pPr>
                      <a:r>
                        <a:rPr lang="en-US" sz="4899">
                          <a:solidFill>
                            <a:srgbClr val="000000"/>
                          </a:solidFill>
                          <a:latin typeface="Apricots"/>
                          <a:ea typeface="Apricots"/>
                          <a:cs typeface="Apricots"/>
                          <a:sym typeface="Apricots"/>
                        </a:rPr>
                        <a:t>Class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6159"/>
                        </a:lnSpc>
                        <a:defRPr/>
                      </a:pPr>
                      <a:r>
                        <a:rPr lang="en-US" sz="4399">
                          <a:solidFill>
                            <a:srgbClr val="000000"/>
                          </a:solidFill>
                          <a:latin typeface="Apricots"/>
                          <a:ea typeface="Apricots"/>
                          <a:cs typeface="Apricots"/>
                          <a:sym typeface="Apricots"/>
                        </a:rPr>
                        <a:t>Properties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6019"/>
                        </a:lnSpc>
                        <a:defRPr/>
                      </a:pPr>
                      <a:r>
                        <a:rPr lang="en-US" sz="4299">
                          <a:solidFill>
                            <a:srgbClr val="000000"/>
                          </a:solidFill>
                          <a:latin typeface="Apricots"/>
                          <a:ea typeface="Apricots"/>
                          <a:cs typeface="Apricots"/>
                          <a:sym typeface="Apricots"/>
                        </a:rPr>
                        <a:t>Method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01963">
                <a:tc>
                  <a:txBody>
                    <a:bodyPr anchor="t" rtlCol="false"/>
                    <a:lstStyle/>
                    <a:p>
                      <a:pPr algn="ctr">
                        <a:lnSpc>
                          <a:spcPts val="7419"/>
                        </a:lnSpc>
                        <a:defRPr/>
                      </a:pPr>
                      <a:r>
                        <a:rPr lang="en-US" sz="5299">
                          <a:solidFill>
                            <a:srgbClr val="000000"/>
                          </a:solidFill>
                          <a:latin typeface="Canva Student Font"/>
                          <a:ea typeface="Canva Student Font"/>
                          <a:cs typeface="Canva Student Font"/>
                          <a:sym typeface="Canva Student Font"/>
                        </a:rPr>
                        <a:t>Car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6719"/>
                        </a:lnSpc>
                        <a:defRPr/>
                      </a:pPr>
                      <a:r>
                        <a:rPr lang="en-US" sz="4799">
                          <a:solidFill>
                            <a:srgbClr val="000000"/>
                          </a:solidFill>
                          <a:latin typeface="Canva Student Font"/>
                          <a:ea typeface="Canva Student Font"/>
                          <a:cs typeface="Canva Student Font"/>
                          <a:sym typeface="Canva Student Font"/>
                        </a:rPr>
                        <a:t>    Brands , color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6299"/>
                        </a:lnSpc>
                        <a:defRPr/>
                      </a:pPr>
                      <a:r>
                        <a:rPr lang="en-US" sz="4499">
                          <a:solidFill>
                            <a:srgbClr val="000000"/>
                          </a:solidFill>
                          <a:latin typeface="Canva Student Font"/>
                          <a:ea typeface="Canva Student Font"/>
                          <a:cs typeface="Canva Student Font"/>
                          <a:sym typeface="Canva Student Font"/>
                        </a:rPr>
                        <a:t>Start , stop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95441">
                <a:tc>
                  <a:txBody>
                    <a:bodyPr anchor="t" rtlCol="false"/>
                    <a:lstStyle/>
                    <a:p>
                      <a:pPr algn="ctr">
                        <a:lnSpc>
                          <a:spcPts val="6579"/>
                        </a:lnSpc>
                        <a:defRPr/>
                      </a:pPr>
                      <a:r>
                        <a:rPr lang="en-US" sz="4699">
                          <a:solidFill>
                            <a:srgbClr val="000000"/>
                          </a:solidFill>
                          <a:latin typeface="Canva Student Font"/>
                          <a:ea typeface="Canva Student Font"/>
                          <a:cs typeface="Canva Student Font"/>
                          <a:sym typeface="Canva Student Font"/>
                        </a:rPr>
                        <a:t>Person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6299"/>
                        </a:lnSpc>
                        <a:defRPr/>
                      </a:pPr>
                      <a:r>
                        <a:rPr lang="en-US" sz="4499">
                          <a:solidFill>
                            <a:srgbClr val="000000"/>
                          </a:solidFill>
                          <a:latin typeface="Canva Student Font"/>
                          <a:ea typeface="Canva Student Font"/>
                          <a:cs typeface="Canva Student Font"/>
                          <a:sym typeface="Canva Student Font"/>
                        </a:rPr>
                        <a:t>Name , 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6159"/>
                        </a:lnSpc>
                        <a:defRPr/>
                      </a:pPr>
                      <a:r>
                        <a:rPr lang="en-US" sz="4399">
                          <a:solidFill>
                            <a:srgbClr val="000000"/>
                          </a:solidFill>
                          <a:latin typeface="Canva Student Font"/>
                          <a:ea typeface="Canva Student Font"/>
                          <a:cs typeface="Canva Student Font"/>
                          <a:sym typeface="Canva Student Font"/>
                        </a:rPr>
                        <a:t>talk , walk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69352">
                <a:tc>
                  <a:txBody>
                    <a:bodyPr anchor="t" rtlCol="false"/>
                    <a:lstStyle/>
                    <a:p>
                      <a:pPr algn="ctr">
                        <a:lnSpc>
                          <a:spcPts val="265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0665531" y="4265376"/>
            <a:ext cx="5863082" cy="4607563"/>
          </a:xfrm>
          <a:custGeom>
            <a:avLst/>
            <a:gdLst/>
            <a:ahLst/>
            <a:cxnLst/>
            <a:rect r="r" b="b" t="t" l="l"/>
            <a:pathLst>
              <a:path h="4607563" w="5863082">
                <a:moveTo>
                  <a:pt x="0" y="0"/>
                </a:moveTo>
                <a:lnTo>
                  <a:pt x="5863082" y="0"/>
                </a:lnTo>
                <a:lnTo>
                  <a:pt x="5863082" y="4607563"/>
                </a:lnTo>
                <a:lnTo>
                  <a:pt x="0" y="4607563"/>
                </a:lnTo>
                <a:lnTo>
                  <a:pt x="0" y="0"/>
                </a:lnTo>
                <a:close/>
              </a:path>
            </a:pathLst>
          </a:custGeom>
          <a:blipFill>
            <a:blip r:embed="rId28">
              <a:alphaModFix amt="81000"/>
            </a:blip>
            <a:stretch>
              <a:fillRect l="0" t="-14058" r="0" b="-13190"/>
            </a:stretch>
          </a:blipFill>
        </p:spPr>
      </p:sp>
      <p:sp>
        <p:nvSpPr>
          <p:cNvPr name="TextBox 16" id="16"/>
          <p:cNvSpPr txBox="true"/>
          <p:nvPr/>
        </p:nvSpPr>
        <p:spPr>
          <a:xfrm rot="0">
            <a:off x="4221977" y="1467621"/>
            <a:ext cx="9844046" cy="701041"/>
          </a:xfrm>
          <a:prstGeom prst="rect">
            <a:avLst/>
          </a:prstGeom>
        </p:spPr>
        <p:txBody>
          <a:bodyPr anchor="t" rtlCol="false" tIns="0" lIns="0" bIns="0" rIns="0">
            <a:spAutoFit/>
          </a:bodyPr>
          <a:lstStyle/>
          <a:p>
            <a:pPr algn="ctr">
              <a:lnSpc>
                <a:spcPts val="5669"/>
              </a:lnSpc>
              <a:spcBef>
                <a:spcPct val="0"/>
              </a:spcBef>
            </a:pPr>
            <a:r>
              <a:rPr lang="en-US" sz="4199" spc="251">
                <a:solidFill>
                  <a:srgbClr val="000000"/>
                </a:solidFill>
                <a:latin typeface="League Spartan"/>
                <a:ea typeface="League Spartan"/>
                <a:cs typeface="League Spartan"/>
                <a:sym typeface="League Spartan"/>
              </a:rPr>
              <a:t>3 - Encapsulation</a:t>
            </a:r>
          </a:p>
        </p:txBody>
      </p:sp>
      <p:sp>
        <p:nvSpPr>
          <p:cNvPr name="TextBox 17" id="17"/>
          <p:cNvSpPr txBox="true"/>
          <p:nvPr/>
        </p:nvSpPr>
        <p:spPr>
          <a:xfrm rot="0">
            <a:off x="1950706" y="2464598"/>
            <a:ext cx="15308594" cy="1415416"/>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Wrapping of data and functions into one unit.</a:t>
            </a:r>
          </a:p>
          <a:p>
            <a:pPr algn="l" marL="906767" indent="-453384" lvl="1">
              <a:lnSpc>
                <a:spcPts val="5669"/>
              </a:lnSpc>
              <a:buFont typeface="Arial"/>
              <a:buChar char="•"/>
            </a:pPr>
            <a:r>
              <a:rPr lang="en-US" sz="4199" spc="251" u="none">
                <a:solidFill>
                  <a:srgbClr val="000000"/>
                </a:solidFill>
                <a:latin typeface="League Spartan"/>
                <a:ea typeface="League Spartan"/>
                <a:cs typeface="League Spartan"/>
                <a:sym typeface="League Spartan"/>
              </a:rPr>
              <a:t>Helps in data hiding and security.</a:t>
            </a:r>
          </a:p>
        </p:txBody>
      </p:sp>
      <p:sp>
        <p:nvSpPr>
          <p:cNvPr name="TextBox 18" id="18"/>
          <p:cNvSpPr txBox="true"/>
          <p:nvPr/>
        </p:nvSpPr>
        <p:spPr>
          <a:xfrm rot="0">
            <a:off x="2008817" y="3407332"/>
            <a:ext cx="14757988" cy="4987291"/>
          </a:xfrm>
          <a:prstGeom prst="rect">
            <a:avLst/>
          </a:prstGeom>
        </p:spPr>
        <p:txBody>
          <a:bodyPr anchor="t" rtlCol="false" tIns="0" lIns="0" bIns="0" rIns="0">
            <a:spAutoFit/>
          </a:bodyPr>
          <a:lstStyle/>
          <a:p>
            <a:pPr algn="l">
              <a:lnSpc>
                <a:spcPts val="5669"/>
              </a:lnSpc>
            </a:pPr>
          </a:p>
          <a:p>
            <a:pPr algn="l" marL="906767" indent="-453384" lvl="1">
              <a:lnSpc>
                <a:spcPts val="5669"/>
              </a:lnSpc>
              <a:buFont typeface="Arial"/>
              <a:buChar char="•"/>
            </a:pPr>
            <a:r>
              <a:rPr lang="en-US" sz="4199" spc="251" u="none">
                <a:solidFill>
                  <a:srgbClr val="000000"/>
                </a:solidFill>
                <a:latin typeface="League Spartan"/>
                <a:ea typeface="League Spartan"/>
                <a:cs typeface="League Spartan"/>
                <a:sym typeface="League Spartan"/>
              </a:rPr>
              <a:t>Example:         </a:t>
            </a:r>
          </a:p>
          <a:p>
            <a:pPr algn="l">
              <a:lnSpc>
                <a:spcPts val="5669"/>
              </a:lnSpc>
            </a:pPr>
            <a:r>
              <a:rPr lang="en-US" sz="4199" spc="251" u="none">
                <a:solidFill>
                  <a:srgbClr val="000000"/>
                </a:solidFill>
                <a:latin typeface="League Spartan"/>
                <a:ea typeface="League Spartan"/>
                <a:cs typeface="League Spartan"/>
                <a:sym typeface="League Spartan"/>
              </a:rPr>
              <a:t>     </a:t>
            </a:r>
          </a:p>
          <a:p>
            <a:pPr algn="l">
              <a:lnSpc>
                <a:spcPts val="5669"/>
              </a:lnSpc>
            </a:pPr>
            <a:r>
              <a:rPr lang="en-US" sz="4199" spc="251" u="none">
                <a:solidFill>
                  <a:srgbClr val="000000"/>
                </a:solidFill>
                <a:latin typeface="League Spartan"/>
                <a:ea typeface="League Spartan"/>
                <a:cs typeface="League Spartan"/>
                <a:sym typeface="League Spartan"/>
              </a:rPr>
              <a:t>    </a:t>
            </a:r>
            <a:r>
              <a:rPr lang="en-US" sz="4199" spc="251" u="none">
                <a:solidFill>
                  <a:srgbClr val="000000"/>
                </a:solidFill>
                <a:latin typeface="League Spartan"/>
                <a:ea typeface="League Spartan"/>
                <a:cs typeface="League Spartan"/>
                <a:sym typeface="League Spartan"/>
              </a:rPr>
              <a:t>Capsule :-</a:t>
            </a:r>
          </a:p>
          <a:p>
            <a:pPr algn="l">
              <a:lnSpc>
                <a:spcPts val="5669"/>
              </a:lnSpc>
            </a:pPr>
            <a:r>
              <a:rPr lang="en-US" sz="4199" spc="251" u="none">
                <a:solidFill>
                  <a:srgbClr val="000000"/>
                </a:solidFill>
                <a:latin typeface="League Spartan"/>
                <a:ea typeface="League Spartan"/>
                <a:cs typeface="League Spartan"/>
                <a:sym typeface="League Spartan"/>
              </a:rPr>
              <a:t>    Medicine = data</a:t>
            </a:r>
          </a:p>
          <a:p>
            <a:pPr algn="l">
              <a:lnSpc>
                <a:spcPts val="5669"/>
              </a:lnSpc>
            </a:pPr>
            <a:r>
              <a:rPr lang="en-US" sz="4199" spc="251" u="none">
                <a:solidFill>
                  <a:srgbClr val="000000"/>
                </a:solidFill>
                <a:latin typeface="League Spartan"/>
                <a:ea typeface="League Spartan"/>
                <a:cs typeface="League Spartan"/>
                <a:sym typeface="League Spartan"/>
              </a:rPr>
              <a:t>    </a:t>
            </a:r>
            <a:r>
              <a:rPr lang="en-US" sz="4199" spc="251" u="none">
                <a:solidFill>
                  <a:srgbClr val="000000"/>
                </a:solidFill>
                <a:latin typeface="League Spartan"/>
                <a:ea typeface="League Spartan"/>
                <a:cs typeface="League Spartan"/>
                <a:sym typeface="League Spartan"/>
              </a:rPr>
              <a:t>How it works = function</a:t>
            </a:r>
          </a:p>
          <a:p>
            <a:pPr algn="l">
              <a:lnSpc>
                <a:spcPts val="566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1607193" y="4737738"/>
            <a:ext cx="4917661" cy="4465652"/>
          </a:xfrm>
          <a:custGeom>
            <a:avLst/>
            <a:gdLst/>
            <a:ahLst/>
            <a:cxnLst/>
            <a:rect r="r" b="b" t="t" l="l"/>
            <a:pathLst>
              <a:path h="4465652" w="4917661">
                <a:moveTo>
                  <a:pt x="0" y="0"/>
                </a:moveTo>
                <a:lnTo>
                  <a:pt x="4917660" y="0"/>
                </a:lnTo>
                <a:lnTo>
                  <a:pt x="4917660" y="4465652"/>
                </a:lnTo>
                <a:lnTo>
                  <a:pt x="0" y="4465652"/>
                </a:lnTo>
                <a:lnTo>
                  <a:pt x="0" y="0"/>
                </a:lnTo>
                <a:close/>
              </a:path>
            </a:pathLst>
          </a:custGeom>
          <a:blipFill>
            <a:blip r:embed="rId28"/>
            <a:stretch>
              <a:fillRect l="-10985" t="-7601" r="-8239" b="-23691"/>
            </a:stretch>
          </a:blipFill>
        </p:spPr>
      </p:sp>
      <p:sp>
        <p:nvSpPr>
          <p:cNvPr name="TextBox 16" id="16"/>
          <p:cNvSpPr txBox="true"/>
          <p:nvPr/>
        </p:nvSpPr>
        <p:spPr>
          <a:xfrm rot="0">
            <a:off x="4221977" y="962025"/>
            <a:ext cx="9844046" cy="701041"/>
          </a:xfrm>
          <a:prstGeom prst="rect">
            <a:avLst/>
          </a:prstGeom>
        </p:spPr>
        <p:txBody>
          <a:bodyPr anchor="t" rtlCol="false" tIns="0" lIns="0" bIns="0" rIns="0">
            <a:spAutoFit/>
          </a:bodyPr>
          <a:lstStyle/>
          <a:p>
            <a:pPr algn="ctr">
              <a:lnSpc>
                <a:spcPts val="5669"/>
              </a:lnSpc>
              <a:spcBef>
                <a:spcPct val="0"/>
              </a:spcBef>
            </a:pPr>
            <a:r>
              <a:rPr lang="en-US" sz="4199" spc="251">
                <a:solidFill>
                  <a:srgbClr val="000000"/>
                </a:solidFill>
                <a:latin typeface="League Spartan"/>
                <a:ea typeface="League Spartan"/>
                <a:cs typeface="League Spartan"/>
                <a:sym typeface="League Spartan"/>
              </a:rPr>
              <a:t>4 - Abstraction </a:t>
            </a:r>
          </a:p>
        </p:txBody>
      </p:sp>
      <p:sp>
        <p:nvSpPr>
          <p:cNvPr name="TextBox 17" id="17"/>
          <p:cNvSpPr txBox="true"/>
          <p:nvPr/>
        </p:nvSpPr>
        <p:spPr>
          <a:xfrm rot="0">
            <a:off x="1950706" y="1805941"/>
            <a:ext cx="15308594" cy="1415416"/>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Hiding unnecessary information from the user and showing only essential things.</a:t>
            </a:r>
          </a:p>
        </p:txBody>
      </p:sp>
      <p:sp>
        <p:nvSpPr>
          <p:cNvPr name="TextBox 18" id="18"/>
          <p:cNvSpPr txBox="true"/>
          <p:nvPr/>
        </p:nvSpPr>
        <p:spPr>
          <a:xfrm rot="0">
            <a:off x="4136549" y="3383282"/>
            <a:ext cx="11390281" cy="1144906"/>
          </a:xfrm>
          <a:prstGeom prst="rect">
            <a:avLst/>
          </a:prstGeom>
        </p:spPr>
        <p:txBody>
          <a:bodyPr anchor="t" rtlCol="false" tIns="0" lIns="0" bIns="0" rIns="0">
            <a:spAutoFit/>
          </a:bodyPr>
          <a:lstStyle/>
          <a:p>
            <a:pPr algn="ctr">
              <a:lnSpc>
                <a:spcPts val="4589"/>
              </a:lnSpc>
            </a:pPr>
            <a:r>
              <a:rPr lang="en-US" sz="3399" spc="203">
                <a:solidFill>
                  <a:srgbClr val="000000"/>
                </a:solidFill>
                <a:latin typeface="League Spartan"/>
                <a:ea typeface="League Spartan"/>
                <a:cs typeface="League Spartan"/>
                <a:sym typeface="League Spartan"/>
              </a:rPr>
              <a:t>(Showing only important features, hiding background details)</a:t>
            </a:r>
          </a:p>
        </p:txBody>
      </p:sp>
      <p:sp>
        <p:nvSpPr>
          <p:cNvPr name="TextBox 19" id="19"/>
          <p:cNvSpPr txBox="true"/>
          <p:nvPr/>
        </p:nvSpPr>
        <p:spPr>
          <a:xfrm rot="0">
            <a:off x="1950706" y="4671063"/>
            <a:ext cx="7966412" cy="1415416"/>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Example :</a:t>
            </a:r>
          </a:p>
          <a:p>
            <a:pPr algn="l">
              <a:lnSpc>
                <a:spcPts val="5669"/>
              </a:lnSpc>
            </a:pPr>
            <a:r>
              <a:rPr lang="en-US" sz="4199" spc="251">
                <a:solidFill>
                  <a:srgbClr val="000000"/>
                </a:solidFill>
                <a:latin typeface="League Spartan"/>
                <a:ea typeface="League Spartan"/>
                <a:cs typeface="League Spartan"/>
                <a:sym typeface="League Spartan"/>
              </a:rPr>
              <a:t>     Using a TV remote —            </a:t>
            </a:r>
          </a:p>
        </p:txBody>
      </p:sp>
      <p:sp>
        <p:nvSpPr>
          <p:cNvPr name="TextBox 20" id="20"/>
          <p:cNvSpPr txBox="true"/>
          <p:nvPr/>
        </p:nvSpPr>
        <p:spPr>
          <a:xfrm rot="0">
            <a:off x="2834584" y="6107048"/>
            <a:ext cx="7966412" cy="2129791"/>
          </a:xfrm>
          <a:prstGeom prst="rect">
            <a:avLst/>
          </a:prstGeom>
        </p:spPr>
        <p:txBody>
          <a:bodyPr anchor="t" rtlCol="false" tIns="0" lIns="0" bIns="0" rIns="0">
            <a:spAutoFit/>
          </a:bodyPr>
          <a:lstStyle/>
          <a:p>
            <a:pPr algn="l">
              <a:lnSpc>
                <a:spcPts val="5669"/>
              </a:lnSpc>
            </a:pPr>
            <a:r>
              <a:rPr lang="en-US" sz="4199" spc="251">
                <a:solidFill>
                  <a:srgbClr val="000000"/>
                </a:solidFill>
                <a:latin typeface="League Spartan"/>
                <a:ea typeface="League Spartan"/>
                <a:cs typeface="League Spartan"/>
                <a:sym typeface="League Spartan"/>
              </a:rPr>
              <a:t>we press buttons without knowing the circuit.</a:t>
            </a:r>
          </a:p>
          <a:p>
            <a:pPr algn="l">
              <a:lnSpc>
                <a:spcPts val="566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1232848" y="4346662"/>
            <a:ext cx="2215156" cy="4114800"/>
          </a:xfrm>
          <a:custGeom>
            <a:avLst/>
            <a:gdLst/>
            <a:ahLst/>
            <a:cxnLst/>
            <a:rect r="r" b="b" t="t" l="l"/>
            <a:pathLst>
              <a:path h="4114800" w="2215156">
                <a:moveTo>
                  <a:pt x="0" y="0"/>
                </a:moveTo>
                <a:lnTo>
                  <a:pt x="2215156" y="0"/>
                </a:lnTo>
                <a:lnTo>
                  <a:pt x="2215156" y="4114800"/>
                </a:lnTo>
                <a:lnTo>
                  <a:pt x="0" y="4114800"/>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1674198">
            <a:off x="13713135" y="5479751"/>
            <a:ext cx="1563273" cy="468418"/>
          </a:xfrm>
          <a:custGeom>
            <a:avLst/>
            <a:gdLst/>
            <a:ahLst/>
            <a:cxnLst/>
            <a:rect r="r" b="b" t="t" l="l"/>
            <a:pathLst>
              <a:path h="468418" w="1563273">
                <a:moveTo>
                  <a:pt x="0" y="0"/>
                </a:moveTo>
                <a:lnTo>
                  <a:pt x="1563273" y="0"/>
                </a:lnTo>
                <a:lnTo>
                  <a:pt x="1563273" y="468418"/>
                </a:lnTo>
                <a:lnTo>
                  <a:pt x="0" y="468418"/>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TextBox 17" id="17"/>
          <p:cNvSpPr txBox="true"/>
          <p:nvPr/>
        </p:nvSpPr>
        <p:spPr>
          <a:xfrm rot="0">
            <a:off x="4174352" y="962025"/>
            <a:ext cx="9844046" cy="701041"/>
          </a:xfrm>
          <a:prstGeom prst="rect">
            <a:avLst/>
          </a:prstGeom>
        </p:spPr>
        <p:txBody>
          <a:bodyPr anchor="t" rtlCol="false" tIns="0" lIns="0" bIns="0" rIns="0">
            <a:spAutoFit/>
          </a:bodyPr>
          <a:lstStyle/>
          <a:p>
            <a:pPr algn="ctr">
              <a:lnSpc>
                <a:spcPts val="5669"/>
              </a:lnSpc>
              <a:spcBef>
                <a:spcPct val="0"/>
              </a:spcBef>
            </a:pPr>
            <a:r>
              <a:rPr lang="en-US" sz="4199" spc="251">
                <a:solidFill>
                  <a:srgbClr val="000000"/>
                </a:solidFill>
                <a:latin typeface="League Spartan"/>
                <a:ea typeface="League Spartan"/>
                <a:cs typeface="League Spartan"/>
                <a:sym typeface="League Spartan"/>
              </a:rPr>
              <a:t>5 - Polymorphism</a:t>
            </a:r>
          </a:p>
        </p:txBody>
      </p:sp>
      <p:sp>
        <p:nvSpPr>
          <p:cNvPr name="TextBox 18" id="18"/>
          <p:cNvSpPr txBox="true"/>
          <p:nvPr/>
        </p:nvSpPr>
        <p:spPr>
          <a:xfrm rot="0">
            <a:off x="1950706" y="1805941"/>
            <a:ext cx="15308594" cy="2129791"/>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One thing has different implementations called polymorphism.</a:t>
            </a:r>
          </a:p>
          <a:p>
            <a:pPr algn="l" marL="906767" indent="-453384" lvl="1">
              <a:lnSpc>
                <a:spcPts val="5669"/>
              </a:lnSpc>
              <a:buFont typeface="Arial"/>
              <a:buChar char="•"/>
            </a:pPr>
            <a:r>
              <a:rPr lang="en-US" sz="4199" spc="251" u="none">
                <a:solidFill>
                  <a:srgbClr val="000000"/>
                </a:solidFill>
                <a:latin typeface="League Spartan"/>
                <a:ea typeface="League Spartan"/>
                <a:cs typeface="League Spartan"/>
                <a:sym typeface="League Spartan"/>
              </a:rPr>
              <a:t>One name, many forms</a:t>
            </a:r>
          </a:p>
        </p:txBody>
      </p:sp>
      <p:sp>
        <p:nvSpPr>
          <p:cNvPr name="TextBox 19" id="19"/>
          <p:cNvSpPr txBox="true"/>
          <p:nvPr/>
        </p:nvSpPr>
        <p:spPr>
          <a:xfrm rot="0">
            <a:off x="1950706" y="4671063"/>
            <a:ext cx="7966412" cy="1415416"/>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Example :</a:t>
            </a:r>
          </a:p>
          <a:p>
            <a:pPr algn="l">
              <a:lnSpc>
                <a:spcPts val="5669"/>
              </a:lnSpc>
            </a:pPr>
            <a:r>
              <a:rPr lang="en-US" sz="4199" spc="251">
                <a:solidFill>
                  <a:srgbClr val="000000"/>
                </a:solidFill>
                <a:latin typeface="League Spartan"/>
                <a:ea typeface="League Spartan"/>
                <a:cs typeface="League Spartan"/>
                <a:sym typeface="League Spartan"/>
              </a:rPr>
              <a:t>     A person acts as  —            </a:t>
            </a:r>
          </a:p>
        </p:txBody>
      </p:sp>
      <p:sp>
        <p:nvSpPr>
          <p:cNvPr name="TextBox 20" id="20"/>
          <p:cNvSpPr txBox="true"/>
          <p:nvPr/>
        </p:nvSpPr>
        <p:spPr>
          <a:xfrm rot="0">
            <a:off x="2834584" y="6107048"/>
            <a:ext cx="7966412" cy="2129791"/>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Son at home </a:t>
            </a:r>
          </a:p>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Student in school</a:t>
            </a:r>
          </a:p>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 Employee at work </a:t>
            </a:r>
          </a:p>
        </p:txBody>
      </p:sp>
      <p:sp>
        <p:nvSpPr>
          <p:cNvPr name="Freeform 21" id="21"/>
          <p:cNvSpPr/>
          <p:nvPr/>
        </p:nvSpPr>
        <p:spPr>
          <a:xfrm flipH="false" flipV="false" rot="1327155">
            <a:off x="13713135" y="7313883"/>
            <a:ext cx="1563273" cy="468418"/>
          </a:xfrm>
          <a:custGeom>
            <a:avLst/>
            <a:gdLst/>
            <a:ahLst/>
            <a:cxnLst/>
            <a:rect r="r" b="b" t="t" l="l"/>
            <a:pathLst>
              <a:path h="468418" w="1563273">
                <a:moveTo>
                  <a:pt x="0" y="0"/>
                </a:moveTo>
                <a:lnTo>
                  <a:pt x="1563273" y="0"/>
                </a:lnTo>
                <a:lnTo>
                  <a:pt x="1563273" y="468417"/>
                </a:lnTo>
                <a:lnTo>
                  <a:pt x="0" y="468417"/>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22" id="22"/>
          <p:cNvSpPr/>
          <p:nvPr/>
        </p:nvSpPr>
        <p:spPr>
          <a:xfrm flipH="false" flipV="false" rot="-558527">
            <a:off x="13772299" y="6445039"/>
            <a:ext cx="1563273" cy="468418"/>
          </a:xfrm>
          <a:custGeom>
            <a:avLst/>
            <a:gdLst/>
            <a:ahLst/>
            <a:cxnLst/>
            <a:rect r="r" b="b" t="t" l="l"/>
            <a:pathLst>
              <a:path h="468418" w="1563273">
                <a:moveTo>
                  <a:pt x="0" y="0"/>
                </a:moveTo>
                <a:lnTo>
                  <a:pt x="1563273" y="0"/>
                </a:lnTo>
                <a:lnTo>
                  <a:pt x="1563273" y="468418"/>
                </a:lnTo>
                <a:lnTo>
                  <a:pt x="0" y="468418"/>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TextBox 23" id="23"/>
          <p:cNvSpPr txBox="true"/>
          <p:nvPr/>
        </p:nvSpPr>
        <p:spPr>
          <a:xfrm rot="0">
            <a:off x="15461178" y="6264540"/>
            <a:ext cx="3350383" cy="644866"/>
          </a:xfrm>
          <a:prstGeom prst="rect">
            <a:avLst/>
          </a:prstGeom>
        </p:spPr>
        <p:txBody>
          <a:bodyPr anchor="t" rtlCol="false" tIns="0" lIns="0" bIns="0" rIns="0">
            <a:spAutoFit/>
          </a:bodyPr>
          <a:lstStyle/>
          <a:p>
            <a:pPr algn="l">
              <a:lnSpc>
                <a:spcPts val="5243"/>
              </a:lnSpc>
              <a:spcBef>
                <a:spcPct val="0"/>
              </a:spcBef>
            </a:pPr>
            <a:r>
              <a:rPr lang="en-US" sz="3883" spc="233">
                <a:solidFill>
                  <a:srgbClr val="000000"/>
                </a:solidFill>
                <a:latin typeface="League Spartan"/>
                <a:ea typeface="League Spartan"/>
                <a:cs typeface="League Spartan"/>
                <a:sym typeface="League Spartan"/>
              </a:rPr>
              <a:t>Student</a:t>
            </a:r>
          </a:p>
        </p:txBody>
      </p:sp>
      <p:sp>
        <p:nvSpPr>
          <p:cNvPr name="TextBox 24" id="24"/>
          <p:cNvSpPr txBox="true"/>
          <p:nvPr/>
        </p:nvSpPr>
        <p:spPr>
          <a:xfrm rot="0">
            <a:off x="15363163" y="7612686"/>
            <a:ext cx="3350383" cy="644866"/>
          </a:xfrm>
          <a:prstGeom prst="rect">
            <a:avLst/>
          </a:prstGeom>
        </p:spPr>
        <p:txBody>
          <a:bodyPr anchor="t" rtlCol="false" tIns="0" lIns="0" bIns="0" rIns="0">
            <a:spAutoFit/>
          </a:bodyPr>
          <a:lstStyle/>
          <a:p>
            <a:pPr algn="l">
              <a:lnSpc>
                <a:spcPts val="5243"/>
              </a:lnSpc>
              <a:spcBef>
                <a:spcPct val="0"/>
              </a:spcBef>
            </a:pPr>
            <a:r>
              <a:rPr lang="en-US" sz="3883" spc="233">
                <a:solidFill>
                  <a:srgbClr val="000000"/>
                </a:solidFill>
                <a:latin typeface="League Spartan"/>
                <a:ea typeface="League Spartan"/>
                <a:cs typeface="League Spartan"/>
                <a:sym typeface="League Spartan"/>
              </a:rPr>
              <a:t>Employee</a:t>
            </a:r>
          </a:p>
        </p:txBody>
      </p:sp>
      <p:sp>
        <p:nvSpPr>
          <p:cNvPr name="TextBox 25" id="25"/>
          <p:cNvSpPr txBox="true"/>
          <p:nvPr/>
        </p:nvSpPr>
        <p:spPr>
          <a:xfrm rot="0">
            <a:off x="15461178" y="5086350"/>
            <a:ext cx="3350383" cy="644866"/>
          </a:xfrm>
          <a:prstGeom prst="rect">
            <a:avLst/>
          </a:prstGeom>
        </p:spPr>
        <p:txBody>
          <a:bodyPr anchor="t" rtlCol="false" tIns="0" lIns="0" bIns="0" rIns="0">
            <a:spAutoFit/>
          </a:bodyPr>
          <a:lstStyle/>
          <a:p>
            <a:pPr algn="l">
              <a:lnSpc>
                <a:spcPts val="5243"/>
              </a:lnSpc>
              <a:spcBef>
                <a:spcPct val="0"/>
              </a:spcBef>
            </a:pPr>
            <a:r>
              <a:rPr lang="en-US" sz="3883" spc="233">
                <a:solidFill>
                  <a:srgbClr val="000000"/>
                </a:solidFill>
                <a:latin typeface="League Spartan"/>
                <a:ea typeface="League Spartan"/>
                <a:cs typeface="League Spartan"/>
                <a:sym typeface="League Spartan"/>
              </a:rPr>
              <a:t>Son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2862102" y="5053801"/>
            <a:ext cx="2706207" cy="4443026"/>
          </a:xfrm>
          <a:custGeom>
            <a:avLst/>
            <a:gdLst/>
            <a:ahLst/>
            <a:cxnLst/>
            <a:rect r="r" b="b" t="t" l="l"/>
            <a:pathLst>
              <a:path h="4443026" w="2706207">
                <a:moveTo>
                  <a:pt x="0" y="0"/>
                </a:moveTo>
                <a:lnTo>
                  <a:pt x="2706206" y="0"/>
                </a:lnTo>
                <a:lnTo>
                  <a:pt x="2706206" y="4443026"/>
                </a:lnTo>
                <a:lnTo>
                  <a:pt x="0" y="444302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16" id="16"/>
          <p:cNvSpPr txBox="true"/>
          <p:nvPr/>
        </p:nvSpPr>
        <p:spPr>
          <a:xfrm rot="0">
            <a:off x="4221977" y="962025"/>
            <a:ext cx="9844046" cy="701041"/>
          </a:xfrm>
          <a:prstGeom prst="rect">
            <a:avLst/>
          </a:prstGeom>
        </p:spPr>
        <p:txBody>
          <a:bodyPr anchor="t" rtlCol="false" tIns="0" lIns="0" bIns="0" rIns="0">
            <a:spAutoFit/>
          </a:bodyPr>
          <a:lstStyle/>
          <a:p>
            <a:pPr algn="ctr">
              <a:lnSpc>
                <a:spcPts val="5669"/>
              </a:lnSpc>
              <a:spcBef>
                <a:spcPct val="0"/>
              </a:spcBef>
            </a:pPr>
            <a:r>
              <a:rPr lang="en-US" sz="4199" spc="251">
                <a:solidFill>
                  <a:srgbClr val="000000"/>
                </a:solidFill>
                <a:latin typeface="League Spartan"/>
                <a:ea typeface="League Spartan"/>
                <a:cs typeface="League Spartan"/>
                <a:sym typeface="League Spartan"/>
              </a:rPr>
              <a:t> 6 - Inheritance</a:t>
            </a:r>
          </a:p>
        </p:txBody>
      </p:sp>
      <p:sp>
        <p:nvSpPr>
          <p:cNvPr name="TextBox 17" id="17"/>
          <p:cNvSpPr txBox="true"/>
          <p:nvPr/>
        </p:nvSpPr>
        <p:spPr>
          <a:xfrm rot="0">
            <a:off x="1950706" y="1805941"/>
            <a:ext cx="15308594" cy="3558541"/>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When object of one class acquires the properties of another class.</a:t>
            </a:r>
          </a:p>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By using existing thing to develop something new but this should not be changes in existing thing.</a:t>
            </a:r>
          </a:p>
        </p:txBody>
      </p:sp>
      <p:sp>
        <p:nvSpPr>
          <p:cNvPr name="TextBox 18" id="18"/>
          <p:cNvSpPr txBox="true"/>
          <p:nvPr/>
        </p:nvSpPr>
        <p:spPr>
          <a:xfrm rot="0">
            <a:off x="1950706" y="5370683"/>
            <a:ext cx="7966412" cy="1415416"/>
          </a:xfrm>
          <a:prstGeom prst="rect">
            <a:avLst/>
          </a:prstGeom>
        </p:spPr>
        <p:txBody>
          <a:bodyPr anchor="t" rtlCol="false" tIns="0" lIns="0" bIns="0" rIns="0">
            <a:spAutoFit/>
          </a:bodyPr>
          <a:lstStyle/>
          <a:p>
            <a:pPr algn="l" marL="906767" indent="-453384" lvl="1">
              <a:lnSpc>
                <a:spcPts val="5669"/>
              </a:lnSpc>
              <a:buFont typeface="Arial"/>
              <a:buChar char="•"/>
            </a:pPr>
            <a:r>
              <a:rPr lang="en-US" sz="4199" spc="251">
                <a:solidFill>
                  <a:srgbClr val="000000"/>
                </a:solidFill>
                <a:latin typeface="League Spartan"/>
                <a:ea typeface="League Spartan"/>
                <a:cs typeface="League Spartan"/>
                <a:sym typeface="League Spartan"/>
              </a:rPr>
              <a:t>Example :</a:t>
            </a:r>
          </a:p>
          <a:p>
            <a:pPr algn="l">
              <a:lnSpc>
                <a:spcPts val="5669"/>
              </a:lnSpc>
            </a:pPr>
            <a:r>
              <a:rPr lang="en-US" sz="4199" spc="251">
                <a:solidFill>
                  <a:srgbClr val="000000"/>
                </a:solidFill>
                <a:latin typeface="League Spartan"/>
                <a:ea typeface="League Spartan"/>
                <a:cs typeface="League Spartan"/>
                <a:sym typeface="League Spartan"/>
              </a:rPr>
              <a:t>     Father and Son  —            </a:t>
            </a:r>
          </a:p>
        </p:txBody>
      </p:sp>
      <p:sp>
        <p:nvSpPr>
          <p:cNvPr name="TextBox 19" id="19"/>
          <p:cNvSpPr txBox="true"/>
          <p:nvPr/>
        </p:nvSpPr>
        <p:spPr>
          <a:xfrm rot="0">
            <a:off x="2825720" y="6795624"/>
            <a:ext cx="7966412" cy="2129791"/>
          </a:xfrm>
          <a:prstGeom prst="rect">
            <a:avLst/>
          </a:prstGeom>
        </p:spPr>
        <p:txBody>
          <a:bodyPr anchor="t" rtlCol="false" tIns="0" lIns="0" bIns="0" rIns="0">
            <a:spAutoFit/>
          </a:bodyPr>
          <a:lstStyle/>
          <a:p>
            <a:pPr algn="l">
              <a:lnSpc>
                <a:spcPts val="5669"/>
              </a:lnSpc>
            </a:pPr>
            <a:r>
              <a:rPr lang="en-US" sz="4199" spc="251">
                <a:solidFill>
                  <a:srgbClr val="000000"/>
                </a:solidFill>
                <a:latin typeface="League Spartan"/>
                <a:ea typeface="League Spartan"/>
                <a:cs typeface="League Spartan"/>
                <a:sym typeface="League Spartan"/>
              </a:rPr>
              <a:t>Son inherit surname , habit or features from father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TextBox 13" id="13"/>
          <p:cNvSpPr txBox="true"/>
          <p:nvPr/>
        </p:nvSpPr>
        <p:spPr>
          <a:xfrm rot="0">
            <a:off x="4221977" y="962025"/>
            <a:ext cx="9844046" cy="701041"/>
          </a:xfrm>
          <a:prstGeom prst="rect">
            <a:avLst/>
          </a:prstGeom>
        </p:spPr>
        <p:txBody>
          <a:bodyPr anchor="t" rtlCol="false" tIns="0" lIns="0" bIns="0" rIns="0">
            <a:spAutoFit/>
          </a:bodyPr>
          <a:lstStyle/>
          <a:p>
            <a:pPr algn="ctr">
              <a:lnSpc>
                <a:spcPts val="5669"/>
              </a:lnSpc>
              <a:spcBef>
                <a:spcPct val="0"/>
              </a:spcBef>
            </a:pPr>
            <a:r>
              <a:rPr lang="en-US" sz="4199" spc="251">
                <a:solidFill>
                  <a:srgbClr val="000000"/>
                </a:solidFill>
                <a:latin typeface="League Spartan"/>
                <a:ea typeface="League Spartan"/>
                <a:cs typeface="League Spartan"/>
                <a:sym typeface="League Spartan"/>
              </a:rPr>
              <a:t>Conclusion </a:t>
            </a:r>
          </a:p>
        </p:txBody>
      </p:sp>
      <p:sp>
        <p:nvSpPr>
          <p:cNvPr name="TextBox 14" id="14"/>
          <p:cNvSpPr txBox="true"/>
          <p:nvPr/>
        </p:nvSpPr>
        <p:spPr>
          <a:xfrm rot="0">
            <a:off x="1950706" y="1824991"/>
            <a:ext cx="15544104" cy="4509136"/>
          </a:xfrm>
          <a:prstGeom prst="rect">
            <a:avLst/>
          </a:prstGeom>
        </p:spPr>
        <p:txBody>
          <a:bodyPr anchor="t" rtlCol="false" tIns="0" lIns="0" bIns="0" rIns="0">
            <a:spAutoFit/>
          </a:bodyPr>
          <a:lstStyle/>
          <a:p>
            <a:pPr algn="just">
              <a:lnSpc>
                <a:spcPts val="5129"/>
              </a:lnSpc>
            </a:pPr>
            <a:r>
              <a:rPr lang="en-US" sz="3799" spc="227">
                <a:solidFill>
                  <a:srgbClr val="000000"/>
                </a:solidFill>
                <a:latin typeface="League Spartan"/>
                <a:ea typeface="League Spartan"/>
                <a:cs typeface="League Spartan"/>
                <a:sym typeface="League Spartan"/>
              </a:rPr>
              <a:t>Object-Oriented Programming (OOP) models real-world entities using classes and objects, making code more organized, reusable, and secure. With key concepts like encapsulation, inheritance, abstraction, and polymorphism, OOP simplifies complex problems and makes programs easier to build and maintain.</a:t>
            </a:r>
          </a:p>
          <a:p>
            <a:pPr algn="just">
              <a:lnSpc>
                <a:spcPts val="5129"/>
              </a:lnSpc>
            </a:pPr>
          </a:p>
        </p:txBody>
      </p:sp>
      <p:sp>
        <p:nvSpPr>
          <p:cNvPr name="TextBox 15" id="15"/>
          <p:cNvSpPr txBox="true"/>
          <p:nvPr/>
        </p:nvSpPr>
        <p:spPr>
          <a:xfrm rot="0">
            <a:off x="10724230" y="8924157"/>
            <a:ext cx="9844046" cy="958217"/>
          </a:xfrm>
          <a:prstGeom prst="rect">
            <a:avLst/>
          </a:prstGeom>
        </p:spPr>
        <p:txBody>
          <a:bodyPr anchor="t" rtlCol="false" tIns="0" lIns="0" bIns="0" rIns="0">
            <a:spAutoFit/>
          </a:bodyPr>
          <a:lstStyle/>
          <a:p>
            <a:pPr algn="ctr">
              <a:lnSpc>
                <a:spcPts val="7694"/>
              </a:lnSpc>
              <a:spcBef>
                <a:spcPct val="0"/>
              </a:spcBef>
            </a:pPr>
            <a:r>
              <a:rPr lang="en-US" sz="5699" spc="341">
                <a:solidFill>
                  <a:srgbClr val="000000"/>
                </a:solidFill>
                <a:latin typeface="Apricots"/>
                <a:ea typeface="Apricots"/>
                <a:cs typeface="Apricots"/>
                <a:sym typeface="Apricot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DAGuEigrF94</dc:identifier>
  <dcterms:modified xsi:type="dcterms:W3CDTF">2011-08-01T06:04:30Z</dcterms:modified>
  <cp:revision>1</cp:revision>
  <dc:title>OOPs:</dc:title>
</cp:coreProperties>
</file>